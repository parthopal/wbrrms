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5" r:id="rId3"/>
    <p:sldId id="286" r:id="rId4"/>
    <p:sldId id="257" r:id="rId5"/>
    <p:sldId id="258" r:id="rId6"/>
    <p:sldId id="284" r:id="rId7"/>
    <p:sldId id="259" r:id="rId8"/>
    <p:sldId id="260" r:id="rId9"/>
    <p:sldId id="266" r:id="rId10"/>
    <p:sldId id="261" r:id="rId11"/>
    <p:sldId id="262" r:id="rId12"/>
    <p:sldId id="265" r:id="rId13"/>
    <p:sldId id="264" r:id="rId14"/>
    <p:sldId id="267" r:id="rId15"/>
    <p:sldId id="268" r:id="rId16"/>
    <p:sldId id="269" r:id="rId17"/>
    <p:sldId id="270" r:id="rId18"/>
    <p:sldId id="279" r:id="rId19"/>
    <p:sldId id="281" r:id="rId20"/>
    <p:sldId id="282" r:id="rId21"/>
    <p:sldId id="283" r:id="rId22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6DDE"/>
    <a:srgbClr val="146EE1"/>
    <a:srgbClr val="136BDA"/>
    <a:srgbClr val="1268D4"/>
    <a:srgbClr val="136CDC"/>
    <a:srgbClr val="1163CD"/>
    <a:srgbClr val="1061C9"/>
    <a:srgbClr val="1165D0"/>
    <a:srgbClr val="116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2094" autoAdjust="0"/>
  </p:normalViewPr>
  <p:slideViewPr>
    <p:cSldViewPr snapToGrid="0">
      <p:cViewPr varScale="1">
        <p:scale>
          <a:sx n="121" d="100"/>
          <a:sy n="121" d="100"/>
        </p:scale>
        <p:origin x="2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A7C07-D67D-4E00-8F8E-95FA604A628E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05195-E596-4B85-A7A8-0DF85059612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6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786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28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28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412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405195-E596-4B85-A7A8-0DF850596123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28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05195-E596-4B85-A7A8-0DF850596123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3922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405195-E596-4B85-A7A8-0DF850596123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79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405195-E596-4B85-A7A8-0DF850596123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5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77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88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0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31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96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47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12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7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04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49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440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95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5723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846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27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64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FFE9E-7C74-4366-A36B-CB0DF81CF0C3}" type="datetimeFigureOut">
              <a:rPr lang="en-IN" smtClean="0"/>
              <a:pPr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C392FCD-1F9C-4F5E-9877-B2C32A2788E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prdroads.wb.gov.in/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52020" y="1533378"/>
            <a:ext cx="10213145" cy="37842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020" y="2002321"/>
            <a:ext cx="9481618" cy="857728"/>
          </a:xfrm>
        </p:spPr>
        <p:txBody>
          <a:bodyPr>
            <a:noAutofit/>
          </a:bodyPr>
          <a:lstStyle/>
          <a:p>
            <a:r>
              <a:rPr lang="en-US" sz="4800" b="1" spc="50" dirty="0" smtClean="0">
                <a:ln w="9525" cmpd="sng">
                  <a:noFill/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Rural Road </a:t>
            </a:r>
            <a:r>
              <a:rPr lang="en-US" sz="4800" b="1" spc="50" dirty="0" smtClean="0">
                <a:ln w="9525" cmpd="sng">
                  <a:noFill/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System</a:t>
            </a:r>
            <a:endParaRPr lang="en-US" sz="4800" b="1" spc="50" dirty="0">
              <a:ln w="9525" cmpd="sng">
                <a:noFill/>
                <a:prstDash val="solid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842" name="Picture 2" descr="logo"/>
          <p:cNvPicPr>
            <a:picLocks noChangeAspect="1" noChangeArrowheads="1"/>
          </p:cNvPicPr>
          <p:nvPr/>
        </p:nvPicPr>
        <p:blipFill>
          <a:blip r:embed="rId3" cstate="print"/>
          <a:srcRect l="20040"/>
          <a:stretch>
            <a:fillRect/>
          </a:stretch>
        </p:blipFill>
        <p:spPr bwMode="auto">
          <a:xfrm>
            <a:off x="2518116" y="3583159"/>
            <a:ext cx="7624689" cy="1031043"/>
          </a:xfrm>
          <a:prstGeom prst="rect">
            <a:avLst/>
          </a:prstGeom>
          <a:noFill/>
        </p:spPr>
      </p:pic>
      <p:grpSp>
        <p:nvGrpSpPr>
          <p:cNvPr id="6" name="Group 5"/>
          <p:cNvGrpSpPr/>
          <p:nvPr/>
        </p:nvGrpSpPr>
        <p:grpSpPr>
          <a:xfrm>
            <a:off x="194198" y="87158"/>
            <a:ext cx="11772000" cy="6612479"/>
            <a:chOff x="194198" y="127818"/>
            <a:chExt cx="11772000" cy="6612479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3B476C9E-8A84-A1E2-3826-A3AA7183F1C3}"/>
                </a:ext>
              </a:extLst>
            </p:cNvPr>
            <p:cNvGrpSpPr/>
            <p:nvPr/>
          </p:nvGrpSpPr>
          <p:grpSpPr>
            <a:xfrm>
              <a:off x="194198" y="127818"/>
              <a:ext cx="11772000" cy="6612479"/>
              <a:chOff x="235974" y="176981"/>
              <a:chExt cx="11720052" cy="650403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="" xmlns:a16="http://schemas.microsoft.com/office/drawing/2014/main" id="{2883C1F1-3336-569B-961C-F1812C4E5F1B}"/>
                  </a:ext>
                </a:extLst>
              </p:cNvPr>
              <p:cNvSpPr/>
              <p:nvPr/>
            </p:nvSpPr>
            <p:spPr>
              <a:xfrm>
                <a:off x="235974" y="176981"/>
                <a:ext cx="11720052" cy="6504038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3" name="Picture 12">
                <a:extLst>
                  <a:ext uri="{FF2B5EF4-FFF2-40B4-BE49-F238E27FC236}">
                    <a16:creationId xmlns="" xmlns:a16="http://schemas.microsoft.com/office/drawing/2014/main" id="{AB6B2716-5C62-4DED-493C-03F6C4EC7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53961" y="244432"/>
                <a:ext cx="1476375" cy="609600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5" name="TextBox 4">
              <a:hlinkClick r:id="rId5"/>
            </p:cNvPr>
            <p:cNvSpPr txBox="1"/>
            <p:nvPr/>
          </p:nvSpPr>
          <p:spPr>
            <a:xfrm>
              <a:off x="4503846" y="4864498"/>
              <a:ext cx="37867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6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https://</a:t>
              </a:r>
              <a:r>
                <a:rPr lang="en-US" sz="2400" dirty="0" smtClean="0">
                  <a:solidFill>
                    <a:srgbClr val="0066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prdroads.wb.gov.in</a:t>
              </a:r>
              <a:endParaRPr lang="en-IN" sz="2400" dirty="0">
                <a:solidFill>
                  <a:srgbClr val="0066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1322ACF-435E-32E3-244B-85CA2F998E60}"/>
              </a:ext>
            </a:extLst>
          </p:cNvPr>
          <p:cNvSpPr/>
          <p:nvPr/>
        </p:nvSpPr>
        <p:spPr>
          <a:xfrm>
            <a:off x="1656080" y="5969578"/>
            <a:ext cx="93472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Developed by EMDEE Digitronics Pvt. Ltd. </a:t>
            </a:r>
            <a:endParaRPr lang="en-US" sz="3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810" y="65364"/>
            <a:ext cx="1224000" cy="48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1322ACF-435E-32E3-244B-85CA2F998E60}"/>
              </a:ext>
            </a:extLst>
          </p:cNvPr>
          <p:cNvSpPr/>
          <p:nvPr/>
        </p:nvSpPr>
        <p:spPr>
          <a:xfrm>
            <a:off x="3101009" y="135423"/>
            <a:ext cx="543774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131" y="434666"/>
            <a:ext cx="1022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40688" y="1216237"/>
            <a:ext cx="111636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A</a:t>
            </a:r>
            <a:r>
              <a:rPr lang="en-US" sz="2000" dirty="0"/>
              <a:t> </a:t>
            </a:r>
            <a:r>
              <a:rPr lang="en-US" sz="2000" dirty="0" smtClean="0"/>
              <a:t>Road </a:t>
            </a:r>
            <a:r>
              <a:rPr lang="en-US" sz="2000" dirty="0"/>
              <a:t>M</a:t>
            </a:r>
            <a:r>
              <a:rPr lang="en-US" sz="2000" dirty="0" smtClean="0"/>
              <a:t>anagement </a:t>
            </a:r>
            <a:r>
              <a:rPr lang="en-US" sz="2000" dirty="0"/>
              <a:t>S</a:t>
            </a:r>
            <a:r>
              <a:rPr lang="en-US" sz="2000" dirty="0" smtClean="0"/>
              <a:t>ystem</a:t>
            </a:r>
            <a:r>
              <a:rPr lang="en-US" sz="2000" dirty="0"/>
              <a:t> is a comprehensive framework designed to manage and </a:t>
            </a:r>
            <a:r>
              <a:rPr lang="en-US" sz="2000" dirty="0" smtClean="0"/>
              <a:t>maintains </a:t>
            </a:r>
            <a:r>
              <a:rPr lang="en-US" sz="2000" dirty="0"/>
              <a:t>road infrastructure efficiently. </a:t>
            </a:r>
            <a:endParaRPr lang="en-US" sz="2000" dirty="0" smtClean="0"/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The Road </a:t>
            </a:r>
            <a:r>
              <a:rPr lang="en-US" sz="2000" dirty="0"/>
              <a:t>Management </a:t>
            </a:r>
            <a:r>
              <a:rPr lang="en-US" sz="2000" dirty="0" smtClean="0"/>
              <a:t>System </a:t>
            </a:r>
            <a:r>
              <a:rPr lang="en-US" sz="2000" dirty="0"/>
              <a:t>is the primary means for defining and monitoring the </a:t>
            </a:r>
            <a:r>
              <a:rPr lang="en-US" sz="2000" dirty="0" smtClean="0"/>
              <a:t>state, </a:t>
            </a:r>
            <a:r>
              <a:rPr lang="en-US" sz="2000" dirty="0"/>
              <a:t>maintaining an inventory of the </a:t>
            </a:r>
            <a:r>
              <a:rPr lang="en-US" sz="2000" dirty="0" smtClean="0"/>
              <a:t>roads </a:t>
            </a:r>
            <a:r>
              <a:rPr lang="en-US" sz="2000" dirty="0"/>
              <a:t>features, conditions, and characteristics, and providing decision-makers with the information necessary for </a:t>
            </a:r>
            <a:r>
              <a:rPr lang="en-US" sz="2000" dirty="0" smtClean="0"/>
              <a:t>funding, project </a:t>
            </a:r>
            <a:r>
              <a:rPr lang="en-US" sz="2000" dirty="0"/>
              <a:t>design, and maintenance programming</a:t>
            </a:r>
            <a:r>
              <a:rPr lang="en-US" sz="2000" dirty="0" smtClean="0"/>
              <a:t>.</a:t>
            </a:r>
          </a:p>
          <a:p>
            <a:pPr marL="285750" indent="-285750">
              <a:buClr>
                <a:srgbClr val="00B0F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/>
              <a:t>The development of this system to help road create and maintains from all </a:t>
            </a:r>
            <a:r>
              <a:rPr lang="en-US" sz="2000" dirty="0" smtClean="0"/>
              <a:t>district and State is </a:t>
            </a:r>
            <a:r>
              <a:rPr lang="en-US" sz="2000" dirty="0"/>
              <a:t>most often the consequence of the awareness </a:t>
            </a:r>
            <a:r>
              <a:rPr lang="en-US" sz="2000" dirty="0" smtClean="0"/>
              <a:t>of </a:t>
            </a:r>
            <a:r>
              <a:rPr lang="en-US" sz="2000" dirty="0"/>
              <a:t>severe gaps concerning basic data characterizing the network, structure and deterioration indicators, roughness indices, etc</a:t>
            </a:r>
            <a:r>
              <a:rPr lang="en-US" sz="2000" dirty="0" smtClean="0"/>
              <a:t>.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/>
              <a:t>After collecting all data from panchayat </a:t>
            </a:r>
            <a:r>
              <a:rPr lang="en-US" sz="2000" dirty="0" smtClean="0"/>
              <a:t>related to </a:t>
            </a:r>
            <a:r>
              <a:rPr lang="en-US" sz="2000" dirty="0"/>
              <a:t>Road Management System</a:t>
            </a:r>
            <a:r>
              <a:rPr lang="en-US" sz="2000" dirty="0" smtClean="0"/>
              <a:t> are directly send to State level to process the data in </a:t>
            </a:r>
            <a:r>
              <a:rPr lang="en-US" sz="2000" dirty="0"/>
              <a:t>Road Management System</a:t>
            </a:r>
            <a:r>
              <a:rPr lang="en-US" sz="2000" dirty="0" smtClean="0"/>
              <a:t> web portal.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101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1322ACF-435E-32E3-244B-85CA2F998E60}"/>
              </a:ext>
            </a:extLst>
          </p:cNvPr>
          <p:cNvSpPr/>
          <p:nvPr/>
        </p:nvSpPr>
        <p:spPr>
          <a:xfrm>
            <a:off x="1891863" y="190602"/>
            <a:ext cx="659959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Benefit of</a:t>
            </a:r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 this Application</a:t>
            </a:r>
            <a:endParaRPr lang="en-US" sz="36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7835" y="497727"/>
            <a:ext cx="1022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40688" y="1216237"/>
            <a:ext cx="1116363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B05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Road approval process, tendering, work order, inspection up to complete the road, quality monitoring from state level – everything </a:t>
            </a:r>
            <a:r>
              <a:rPr lang="en-US" sz="2000" dirty="0" smtClean="0"/>
              <a:t>is managed by this application</a:t>
            </a:r>
            <a:endParaRPr lang="en-US" sz="2000" dirty="0" smtClean="0"/>
          </a:p>
          <a:p>
            <a:pPr marL="285750" indent="-285750">
              <a:buClr>
                <a:schemeClr val="accent4">
                  <a:lumMod val="50000"/>
                </a:schemeClr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Approval process will be done in short time</a:t>
            </a:r>
            <a:endParaRPr lang="en-US" sz="2000" dirty="0" smtClean="0"/>
          </a:p>
          <a:p>
            <a:pPr marL="285750" indent="-285750">
              <a:buClr>
                <a:srgbClr val="00B0F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Upper level can monitor the status</a:t>
            </a:r>
            <a:endParaRPr lang="en-US" sz="2000" dirty="0" smtClean="0"/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Road can be identified by geo-tagging picture and information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Tendering, Re-tendering, Work Order with document and information are available in upper level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Multiple schemes/fund can be managed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User can be managed role wise and division wise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/>
              <a:t>Various management reports are </a:t>
            </a:r>
            <a:r>
              <a:rPr lang="en-US" sz="2000" dirty="0" smtClean="0"/>
              <a:t>available – like division wise, agency wise, progress wise etc.</a:t>
            </a:r>
            <a:endParaRPr lang="en-US" sz="2000" dirty="0"/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Reports are standard format and available to download in excel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000" dirty="0" smtClean="0"/>
              <a:t>Call log is available for support – anyone can log the call and support team can resolve and reply back to customer</a:t>
            </a:r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285750" indent="-285750">
              <a:buClr>
                <a:srgbClr val="C00000"/>
              </a:buClr>
              <a:buSzPct val="115000"/>
              <a:buFont typeface="Wingdings" panose="05000000000000000000" pitchFamily="2" charset="2"/>
              <a:buChar char="Ø"/>
            </a:pPr>
            <a:endParaRPr lang="en-US" sz="20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268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2DF6BBE-7AB7-6948-ADB4-49E31CDD4044}"/>
              </a:ext>
            </a:extLst>
          </p:cNvPr>
          <p:cNvSpPr txBox="1"/>
          <p:nvPr/>
        </p:nvSpPr>
        <p:spPr>
          <a:xfrm>
            <a:off x="0" y="781754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Gram Panchayat send survey reports from roads details to the State Authority.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This details is processed by this portal in the following steps 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:-</a:t>
            </a:r>
            <a:endParaRPr lang="en-US" b="1" i="0" u="none" strike="noStrike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57300" lvl="1" indent="-342900">
              <a:lnSpc>
                <a:spcPct val="200000"/>
              </a:lnSpc>
              <a:buClr>
                <a:srgbClr val="00CCFF"/>
              </a:buClr>
              <a:buSzPct val="200000"/>
              <a:buFont typeface="Wingdings" pitchFamily="2" charset="2"/>
              <a:buChar char="Ø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Only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Admin/State entry the road details.</a:t>
            </a:r>
          </a:p>
          <a:p>
            <a:pPr marL="1257300" lvl="1" indent="-342900" fontAlgn="base">
              <a:lnSpc>
                <a:spcPct val="150000"/>
              </a:lnSpc>
              <a:buClr>
                <a:srgbClr val="0099CC"/>
              </a:buClr>
              <a:buSzPct val="200000"/>
              <a:buFont typeface="Wingdings" pitchFamily="2" charset="2"/>
              <a:buChar char="Ø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After road entry complete road details show the agency login side</a:t>
            </a:r>
          </a:p>
          <a:p>
            <a:pPr marL="1257300" lvl="1" indent="-342900" fontAlgn="base">
              <a:lnSpc>
                <a:spcPct val="150000"/>
              </a:lnSpc>
              <a:buClr>
                <a:srgbClr val="0A50A9"/>
              </a:buClr>
              <a:buSzPct val="200000"/>
              <a:buFont typeface="Wingdings" pitchFamily="2" charset="2"/>
              <a:buChar char="Ø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There are five types of agency</a:t>
            </a:r>
          </a:p>
          <a:p>
            <a:pPr marL="1714500" lvl="3" indent="-342900" fontAlgn="base">
              <a:buFont typeface="+mj-lt"/>
              <a:buAutoNum type="arabicParenR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ZP(</a:t>
            </a:r>
            <a:r>
              <a:rPr lang="en-IN" dirty="0"/>
              <a:t>Zilla </a:t>
            </a:r>
            <a:r>
              <a:rPr lang="en-IN" dirty="0" smtClean="0"/>
              <a:t>Parishad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0" lvl="3" indent="-342900" fontAlgn="base">
              <a:buFont typeface="+mj-lt"/>
              <a:buAutoNum type="arabicParenR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BLOCK</a:t>
            </a:r>
          </a:p>
          <a:p>
            <a:pPr marL="1714500" lvl="3" indent="-342900" fontAlgn="base">
              <a:buFont typeface="+mj-lt"/>
              <a:buAutoNum type="arabicParenR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WBSRDA(</a:t>
            </a:r>
            <a:r>
              <a:rPr lang="en-US" dirty="0"/>
              <a:t>West Bengal State Rural Development </a:t>
            </a:r>
            <a:r>
              <a:rPr lang="en-US" dirty="0" smtClean="0"/>
              <a:t>Agency)</a:t>
            </a: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0" lvl="3" indent="-342900" fontAlgn="base">
              <a:buFont typeface="+mj-lt"/>
              <a:buAutoNum type="arabicParenR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MBL</a:t>
            </a:r>
          </a:p>
          <a:p>
            <a:pPr marL="1714500" lvl="3" indent="-342900" fontAlgn="base">
              <a:buFont typeface="+mj-lt"/>
              <a:buAutoNum type="arabicParenR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AGRO</a:t>
            </a:r>
          </a:p>
          <a:p>
            <a:pPr marL="1257300" lvl="1" indent="-342900" fontAlgn="base">
              <a:lnSpc>
                <a:spcPct val="150000"/>
              </a:lnSpc>
              <a:buClr>
                <a:srgbClr val="1D02BE"/>
              </a:buClr>
              <a:buSzPct val="200000"/>
              <a:buFont typeface="Wingdings" pitchFamily="2" charset="2"/>
              <a:buChar char="Ø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ZP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BLOCK forwarded 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roads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details to the 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DM(</a:t>
            </a:r>
            <a:r>
              <a:rPr lang="en-IN" dirty="0"/>
              <a:t>District </a:t>
            </a:r>
            <a:r>
              <a:rPr lang="en-IN" dirty="0" smtClean="0"/>
              <a:t>Magistrate)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next step.</a:t>
            </a:r>
          </a:p>
          <a:p>
            <a:pPr marL="1257300" lvl="1" indent="-342900" fontAlgn="base">
              <a:lnSpc>
                <a:spcPct val="150000"/>
              </a:lnSpc>
              <a:buClr>
                <a:schemeClr val="accent2">
                  <a:lumMod val="75000"/>
                </a:schemeClr>
              </a:buClr>
              <a:buSzPct val="200000"/>
              <a:buFont typeface="Wingdings" pitchFamily="2" charset="2"/>
              <a:buChar char="Ø"/>
            </a:pP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DM(</a:t>
            </a:r>
            <a:r>
              <a:rPr lang="en-IN" dirty="0"/>
              <a:t>District Magistrate)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checked 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roads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details and forwarded to 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SE(</a:t>
            </a:r>
            <a:r>
              <a:rPr lang="en-IN" dirty="0"/>
              <a:t>Superintending </a:t>
            </a:r>
            <a:r>
              <a:rPr lang="en-IN" dirty="0" smtClean="0"/>
              <a:t>Engineer)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for the next step</a:t>
            </a:r>
            <a:r>
              <a:rPr lang="en-US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257300" lvl="1" indent="-342900" fontAlgn="base">
              <a:lnSpc>
                <a:spcPct val="150000"/>
              </a:lnSpc>
              <a:buClr>
                <a:schemeClr val="bg2">
                  <a:lumMod val="50000"/>
                </a:schemeClr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SRDA/MBL/AGRO forwarded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roads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details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irectly to SE(</a:t>
            </a:r>
            <a:r>
              <a:rPr lang="en-IN" dirty="0"/>
              <a:t>Superintending Engineer)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for the next step.</a:t>
            </a:r>
            <a:endParaRPr lang="en-US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1322ACF-435E-32E3-244B-85CA2F998E60}"/>
              </a:ext>
            </a:extLst>
          </p:cNvPr>
          <p:cNvSpPr/>
          <p:nvPr/>
        </p:nvSpPr>
        <p:spPr>
          <a:xfrm>
            <a:off x="3643197" y="135423"/>
            <a:ext cx="489555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Work Process - I</a:t>
            </a:r>
            <a:endParaRPr lang="en-US" sz="3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625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1322ACF-435E-32E3-244B-85CA2F998E60}"/>
              </a:ext>
            </a:extLst>
          </p:cNvPr>
          <p:cNvSpPr/>
          <p:nvPr/>
        </p:nvSpPr>
        <p:spPr>
          <a:xfrm>
            <a:off x="3521277" y="255453"/>
            <a:ext cx="489555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Work Process - II</a:t>
            </a:r>
            <a:endParaRPr lang="en-US" sz="3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016233"/>
            <a:ext cx="12191999" cy="48955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5850" lvl="1" indent="-171450" fontAlgn="base">
              <a:lnSpc>
                <a:spcPct val="200000"/>
              </a:lnSpc>
              <a:buClr>
                <a:schemeClr val="accent4">
                  <a:lumMod val="75000"/>
                </a:schemeClr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SE(Superintending Engineer)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checked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roads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details properly and forwarded to STATE for Approval.</a:t>
            </a:r>
          </a:p>
          <a:p>
            <a:pPr marL="1085850" lvl="1" indent="-171450" fontAlgn="base">
              <a:lnSpc>
                <a:spcPct val="200000"/>
              </a:lnSpc>
              <a:buClr>
                <a:srgbClr val="7030A0"/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STATE checked roads details properly and give the approval.</a:t>
            </a:r>
          </a:p>
          <a:p>
            <a:pPr marL="1085850" lvl="1" indent="-171450" fontAlgn="base">
              <a:lnSpc>
                <a:spcPct val="200000"/>
              </a:lnSpc>
              <a:buClr>
                <a:srgbClr val="00B050"/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If any mistake, STATE returns the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roads details 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to SE, and also SE returns to DM/SRDA/AGRO/MBL, and DM returns to ZP/BLOCK.</a:t>
            </a:r>
          </a:p>
          <a:p>
            <a:pPr marL="1085850" lvl="1" indent="-171450" fontAlgn="base">
              <a:lnSpc>
                <a:spcPct val="200000"/>
              </a:lnSpc>
              <a:buClr>
                <a:schemeClr val="bg2">
                  <a:lumMod val="50000"/>
                </a:schemeClr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After approval all agency going to tendering process.</a:t>
            </a:r>
          </a:p>
          <a:p>
            <a:pPr marL="1085850" lvl="1" indent="-171450" fontAlgn="base">
              <a:lnSpc>
                <a:spcPct val="200000"/>
              </a:lnSpc>
              <a:buClr>
                <a:srgbClr val="C00000"/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After tendering complete the agency going to work order process.</a:t>
            </a:r>
          </a:p>
          <a:p>
            <a:pPr marL="1085850" lvl="1" indent="-171450" fontAlgn="base">
              <a:lnSpc>
                <a:spcPct val="200000"/>
              </a:lnSpc>
              <a:buClr>
                <a:schemeClr val="accent6">
                  <a:lumMod val="75000"/>
                </a:schemeClr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Work order process complete the road work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started.</a:t>
            </a: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085850" lvl="1" indent="-171450" fontAlgn="base">
              <a:lnSpc>
                <a:spcPct val="200000"/>
              </a:lnSpc>
              <a:buClr>
                <a:srgbClr val="FF0000"/>
              </a:buClr>
              <a:buSzPct val="200000"/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 Road work started and Engineer update status on portal.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25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1322ACF-435E-32E3-244B-85CA2F998E60}"/>
              </a:ext>
            </a:extLst>
          </p:cNvPr>
          <p:cNvSpPr/>
          <p:nvPr/>
        </p:nvSpPr>
        <p:spPr>
          <a:xfrm>
            <a:off x="3601240" y="52197"/>
            <a:ext cx="489555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Architecture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10368" y="1193160"/>
            <a:ext cx="11655830" cy="5118670"/>
            <a:chOff x="1244277" y="1437327"/>
            <a:chExt cx="10883554" cy="4802132"/>
          </a:xfrm>
        </p:grpSpPr>
        <p:pic>
          <p:nvPicPr>
            <p:cNvPr id="97" name="Picture 9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8582" y="3803843"/>
              <a:ext cx="1390650" cy="1143000"/>
            </a:xfrm>
            <a:prstGeom prst="rect">
              <a:avLst/>
            </a:prstGeom>
          </p:spPr>
        </p:pic>
        <p:grpSp>
          <p:nvGrpSpPr>
            <p:cNvPr id="91" name="Group 90"/>
            <p:cNvGrpSpPr/>
            <p:nvPr/>
          </p:nvGrpSpPr>
          <p:grpSpPr>
            <a:xfrm>
              <a:off x="1264054" y="1446486"/>
              <a:ext cx="9594269" cy="4353341"/>
              <a:chOff x="1218303" y="1437952"/>
              <a:chExt cx="9594269" cy="4353341"/>
            </a:xfrm>
          </p:grpSpPr>
          <p:grpSp>
            <p:nvGrpSpPr>
              <p:cNvPr id="90" name="Group 89"/>
              <p:cNvGrpSpPr/>
              <p:nvPr/>
            </p:nvGrpSpPr>
            <p:grpSpPr>
              <a:xfrm>
                <a:off x="1218303" y="1437952"/>
                <a:ext cx="9594269" cy="2139190"/>
                <a:chOff x="1218303" y="1437952"/>
                <a:chExt cx="9594269" cy="2139190"/>
              </a:xfrm>
            </p:grpSpPr>
            <p:sp>
              <p:nvSpPr>
                <p:cNvPr id="3" name="Can 2"/>
                <p:cNvSpPr/>
                <p:nvPr/>
              </p:nvSpPr>
              <p:spPr>
                <a:xfrm>
                  <a:off x="1218303" y="1437952"/>
                  <a:ext cx="1541131" cy="1785882"/>
                </a:xfrm>
                <a:prstGeom prst="ca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chemeClr val="tx1"/>
                      </a:solidFill>
                    </a:rPr>
                    <a:t>DATABASE</a:t>
                  </a:r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3961128" y="1620032"/>
                  <a:ext cx="1588169" cy="141972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smtClean="0">
                      <a:solidFill>
                        <a:schemeClr val="tx1"/>
                      </a:solidFill>
                    </a:rPr>
                    <a:t>Web Server</a:t>
                  </a:r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ounded Rectangle 16"/>
                <p:cNvSpPr/>
                <p:nvPr/>
              </p:nvSpPr>
              <p:spPr>
                <a:xfrm>
                  <a:off x="8727098" y="1478592"/>
                  <a:ext cx="2085474" cy="1202749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Web Application</a:t>
                  </a:r>
                  <a:endParaRPr lang="en-IN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6" name="Group 25"/>
                <p:cNvGrpSpPr/>
                <p:nvPr/>
              </p:nvGrpSpPr>
              <p:grpSpPr>
                <a:xfrm>
                  <a:off x="5564531" y="1844213"/>
                  <a:ext cx="3153409" cy="0"/>
                  <a:chOff x="5320766" y="4379495"/>
                  <a:chExt cx="3153409" cy="0"/>
                </a:xfrm>
              </p:grpSpPr>
              <p:cxnSp>
                <p:nvCxnSpPr>
                  <p:cNvPr id="23" name="Straight Arrow Connector 22"/>
                  <p:cNvCxnSpPr/>
                  <p:nvPr/>
                </p:nvCxnSpPr>
                <p:spPr>
                  <a:xfrm flipH="1">
                    <a:off x="5320766" y="4379495"/>
                    <a:ext cx="720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/>
                  <p:nvPr/>
                </p:nvCxnSpPr>
                <p:spPr>
                  <a:xfrm>
                    <a:off x="543496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/>
                  <p:cNvCxnSpPr/>
                  <p:nvPr/>
                </p:nvCxnSpPr>
                <p:spPr>
                  <a:xfrm>
                    <a:off x="590486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637857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/>
                  <p:cNvCxnSpPr/>
                  <p:nvPr/>
                </p:nvCxnSpPr>
                <p:spPr>
                  <a:xfrm>
                    <a:off x="6866890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/>
                  <p:cNvCxnSpPr/>
                  <p:nvPr/>
                </p:nvCxnSpPr>
                <p:spPr>
                  <a:xfrm>
                    <a:off x="734377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780097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>
                    <a:off x="8258175" y="4379495"/>
                    <a:ext cx="216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Group 34"/>
                <p:cNvGrpSpPr/>
                <p:nvPr/>
              </p:nvGrpSpPr>
              <p:grpSpPr>
                <a:xfrm rot="10800000">
                  <a:off x="5559451" y="2377613"/>
                  <a:ext cx="3153409" cy="0"/>
                  <a:chOff x="5320766" y="4379495"/>
                  <a:chExt cx="3153409" cy="0"/>
                </a:xfrm>
              </p:grpSpPr>
              <p:cxnSp>
                <p:nvCxnSpPr>
                  <p:cNvPr id="36" name="Straight Arrow Connector 35"/>
                  <p:cNvCxnSpPr/>
                  <p:nvPr/>
                </p:nvCxnSpPr>
                <p:spPr>
                  <a:xfrm flipH="1">
                    <a:off x="5320766" y="4379495"/>
                    <a:ext cx="720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543496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590486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637857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6866890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>
                    <a:off x="734377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7800975" y="4379495"/>
                    <a:ext cx="360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8258175" y="4379495"/>
                    <a:ext cx="2160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" name="TextBox 33"/>
                <p:cNvSpPr txBox="1"/>
                <p:nvPr/>
              </p:nvSpPr>
              <p:spPr>
                <a:xfrm>
                  <a:off x="6337427" y="1812820"/>
                  <a:ext cx="1791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HTTPS Request</a:t>
                  </a:r>
                  <a:endParaRPr lang="en-IN" dirty="0"/>
                </a:p>
              </p:txBody>
            </p:sp>
            <p:sp>
              <p:nvSpPr>
                <p:cNvPr id="45" name="TextBox 44"/>
                <p:cNvSpPr txBox="1"/>
                <p:nvPr/>
              </p:nvSpPr>
              <p:spPr>
                <a:xfrm>
                  <a:off x="6326408" y="2338343"/>
                  <a:ext cx="18980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HTTPS Response</a:t>
                  </a:r>
                  <a:endParaRPr lang="en-IN" dirty="0"/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4235264" y="1630336"/>
                  <a:ext cx="995948" cy="3723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APACHE</a:t>
                  </a:r>
                  <a:endPara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5035407" y="3207810"/>
                  <a:ext cx="17913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HTTPS Request</a:t>
                  </a:r>
                  <a:endParaRPr lang="en-IN" dirty="0"/>
                </a:p>
              </p:txBody>
            </p:sp>
            <p:sp>
              <p:nvSpPr>
                <p:cNvPr id="132" name="TextBox 131"/>
                <p:cNvSpPr txBox="1"/>
                <p:nvPr/>
              </p:nvSpPr>
              <p:spPr>
                <a:xfrm>
                  <a:off x="2444759" y="3129751"/>
                  <a:ext cx="189801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HTTPS Response</a:t>
                  </a:r>
                  <a:endParaRPr lang="en-IN" dirty="0"/>
                </a:p>
              </p:txBody>
            </p:sp>
          </p:grpSp>
          <p:sp>
            <p:nvSpPr>
              <p:cNvPr id="48" name="Rounded Rectangle 47"/>
              <p:cNvSpPr/>
              <p:nvPr/>
            </p:nvSpPr>
            <p:spPr>
              <a:xfrm>
                <a:off x="3694867" y="4235208"/>
                <a:ext cx="1992224" cy="1556085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Mobile Application</a:t>
                </a:r>
                <a:endParaRPr lang="en-IN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0" name="Group 49"/>
              <p:cNvGrpSpPr/>
              <p:nvPr/>
            </p:nvGrpSpPr>
            <p:grpSpPr>
              <a:xfrm rot="5400000" flipV="1">
                <a:off x="4441407" y="3625743"/>
                <a:ext cx="1188000" cy="0"/>
                <a:chOff x="5320766" y="4379495"/>
                <a:chExt cx="3153409" cy="0"/>
              </a:xfrm>
            </p:grpSpPr>
            <p:cxnSp>
              <p:nvCxnSpPr>
                <p:cNvPr id="51" name="Straight Arrow Connector 50"/>
                <p:cNvCxnSpPr/>
                <p:nvPr/>
              </p:nvCxnSpPr>
              <p:spPr>
                <a:xfrm flipH="1">
                  <a:off x="5320766" y="4379495"/>
                  <a:ext cx="7200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543496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590486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637857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6866890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>
                <a:xfrm>
                  <a:off x="734377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780097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>
                  <a:off x="8258175" y="4379495"/>
                  <a:ext cx="216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Group 59"/>
              <p:cNvGrpSpPr/>
              <p:nvPr/>
            </p:nvGrpSpPr>
            <p:grpSpPr>
              <a:xfrm rot="16200000">
                <a:off x="3663368" y="3641786"/>
                <a:ext cx="1188000" cy="0"/>
                <a:chOff x="5320766" y="4379495"/>
                <a:chExt cx="3153409" cy="0"/>
              </a:xfrm>
            </p:grpSpPr>
            <p:cxnSp>
              <p:nvCxnSpPr>
                <p:cNvPr id="61" name="Straight Arrow Connector 60"/>
                <p:cNvCxnSpPr/>
                <p:nvPr/>
              </p:nvCxnSpPr>
              <p:spPr>
                <a:xfrm flipH="1">
                  <a:off x="5320766" y="4379495"/>
                  <a:ext cx="7200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543496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590486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>
                  <a:off x="637857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6866890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734377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>
                  <a:off x="7800975" y="4379495"/>
                  <a:ext cx="360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>
                  <a:off x="8258175" y="4379495"/>
                  <a:ext cx="216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3" name="Straight Arrow Connector 92"/>
            <p:cNvCxnSpPr/>
            <p:nvPr/>
          </p:nvCxnSpPr>
          <p:spPr>
            <a:xfrm>
              <a:off x="2838216" y="2011680"/>
              <a:ext cx="115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H="1">
              <a:off x="2823230" y="2556510"/>
              <a:ext cx="115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Picture 9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240" y="3088473"/>
              <a:ext cx="1390650" cy="1143000"/>
            </a:xfrm>
            <a:prstGeom prst="rect">
              <a:avLst/>
            </a:prstGeom>
          </p:spPr>
        </p:pic>
        <p:pic>
          <p:nvPicPr>
            <p:cNvPr id="98" name="Picture 9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7201" y="3387153"/>
              <a:ext cx="1390650" cy="1143000"/>
            </a:xfrm>
            <a:prstGeom prst="rect">
              <a:avLst/>
            </a:prstGeom>
          </p:spPr>
        </p:pic>
        <p:pic>
          <p:nvPicPr>
            <p:cNvPr id="99" name="Picture 9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50" r="14037"/>
            <a:stretch/>
          </p:blipFill>
          <p:spPr>
            <a:xfrm>
              <a:off x="11061031" y="1437327"/>
              <a:ext cx="1066800" cy="1143000"/>
            </a:xfrm>
            <a:prstGeom prst="rect">
              <a:avLst/>
            </a:prstGeom>
          </p:spPr>
        </p:pic>
        <p:cxnSp>
          <p:nvCxnSpPr>
            <p:cNvPr id="102" name="Straight Arrow Connector 101"/>
            <p:cNvCxnSpPr/>
            <p:nvPr/>
          </p:nvCxnSpPr>
          <p:spPr>
            <a:xfrm>
              <a:off x="10866473" y="1925007"/>
              <a:ext cx="26891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/>
            <p:nvPr/>
          </p:nvCxnSpPr>
          <p:spPr>
            <a:xfrm flipH="1">
              <a:off x="8660721" y="2697383"/>
              <a:ext cx="224519" cy="8771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>
              <a:off x="9769835" y="2705404"/>
              <a:ext cx="118235" cy="126135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/>
            <p:cNvCxnSpPr/>
            <p:nvPr/>
          </p:nvCxnSpPr>
          <p:spPr>
            <a:xfrm>
              <a:off x="10610912" y="2705404"/>
              <a:ext cx="344731" cy="5960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/>
            <p:nvPr/>
          </p:nvCxnSpPr>
          <p:spPr>
            <a:xfrm flipH="1">
              <a:off x="1993453" y="5168532"/>
              <a:ext cx="1714353" cy="268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2735189" y="4332635"/>
              <a:ext cx="974828" cy="854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 flipV="1">
              <a:off x="5751860" y="4479587"/>
              <a:ext cx="638680" cy="1011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/>
            <p:cNvCxnSpPr/>
            <p:nvPr/>
          </p:nvCxnSpPr>
          <p:spPr>
            <a:xfrm flipV="1">
              <a:off x="5751859" y="5457715"/>
              <a:ext cx="1445435" cy="135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 descr="Black Android Phones PNG Transparent Images Free Download | Vector Files |  Pngtre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78" b="10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26" r="23596"/>
            <a:stretch/>
          </p:blipFill>
          <p:spPr bwMode="auto">
            <a:xfrm>
              <a:off x="2008357" y="3531193"/>
              <a:ext cx="809596" cy="1401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2" descr="Black Android Phones PNG Transparent Images Free Download | Vector Files |  Pngtre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26" r="23596"/>
            <a:stretch/>
          </p:blipFill>
          <p:spPr bwMode="auto">
            <a:xfrm>
              <a:off x="1244277" y="4838237"/>
              <a:ext cx="809596" cy="1401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2" descr="Black Android Phones PNG Transparent Images Free Download | Vector Files |  Pngtre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26" r="23596"/>
            <a:stretch/>
          </p:blipFill>
          <p:spPr bwMode="auto">
            <a:xfrm>
              <a:off x="6336568" y="3621864"/>
              <a:ext cx="809596" cy="1401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2" descr="Black Android Phones PNG Transparent Images Free Download | Vector Files |  Pngtre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26" r="23596"/>
            <a:stretch/>
          </p:blipFill>
          <p:spPr bwMode="auto">
            <a:xfrm>
              <a:off x="7137851" y="4580721"/>
              <a:ext cx="809596" cy="1401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791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DC31E4A1-7D77-5BB1-C907-0B6939246F20}"/>
              </a:ext>
            </a:extLst>
          </p:cNvPr>
          <p:cNvSpPr/>
          <p:nvPr/>
        </p:nvSpPr>
        <p:spPr>
          <a:xfrm>
            <a:off x="2002222" y="0"/>
            <a:ext cx="640079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Road Approval Process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66" name="Flowchart: Data 165">
            <a:extLst>
              <a:ext uri="{FF2B5EF4-FFF2-40B4-BE49-F238E27FC236}">
                <a16:creationId xmlns="" xmlns:a16="http://schemas.microsoft.com/office/drawing/2014/main" id="{D9269B5E-9E9A-D000-C180-51B38A113289}"/>
              </a:ext>
            </a:extLst>
          </p:cNvPr>
          <p:cNvSpPr/>
          <p:nvPr/>
        </p:nvSpPr>
        <p:spPr>
          <a:xfrm>
            <a:off x="4124399" y="1537360"/>
            <a:ext cx="1957707" cy="535370"/>
          </a:xfrm>
          <a:prstGeom prst="flowChartInputOutpu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Road </a:t>
            </a:r>
            <a:r>
              <a:rPr lang="en-US" sz="1200" kern="1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aster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EFA20622-2955-8460-11C9-0F1B01BF9B41}"/>
              </a:ext>
            </a:extLst>
          </p:cNvPr>
          <p:cNvSpPr/>
          <p:nvPr/>
        </p:nvSpPr>
        <p:spPr>
          <a:xfrm>
            <a:off x="5639134" y="2312198"/>
            <a:ext cx="2030163" cy="491749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Survey – In-direct Agency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EFA20622-2955-8460-11C9-0F1B01BF9B41}"/>
              </a:ext>
            </a:extLst>
          </p:cNvPr>
          <p:cNvSpPr/>
          <p:nvPr/>
        </p:nvSpPr>
        <p:spPr>
          <a:xfrm>
            <a:off x="2558873" y="3423955"/>
            <a:ext cx="2018889" cy="491749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District Magistrate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734858" y="3335380"/>
            <a:ext cx="737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Approve</a:t>
            </a:r>
            <a:endParaRPr lang="en-IN" sz="1050" dirty="0"/>
          </a:p>
        </p:txBody>
      </p:sp>
      <p:sp>
        <p:nvSpPr>
          <p:cNvPr id="183" name="Rectangle 182">
            <a:extLst>
              <a:ext uri="{FF2B5EF4-FFF2-40B4-BE49-F238E27FC236}">
                <a16:creationId xmlns="" xmlns:a16="http://schemas.microsoft.com/office/drawing/2014/main" id="{EFA20622-2955-8460-11C9-0F1B01BF9B41}"/>
              </a:ext>
            </a:extLst>
          </p:cNvPr>
          <p:cNvSpPr/>
          <p:nvPr/>
        </p:nvSpPr>
        <p:spPr>
          <a:xfrm>
            <a:off x="5683093" y="4435584"/>
            <a:ext cx="2018889" cy="491749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State Admin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="" xmlns:a16="http://schemas.microsoft.com/office/drawing/2014/main" id="{EFA20622-2955-8460-11C9-0F1B01BF9B41}"/>
              </a:ext>
            </a:extLst>
          </p:cNvPr>
          <p:cNvSpPr/>
          <p:nvPr/>
        </p:nvSpPr>
        <p:spPr>
          <a:xfrm>
            <a:off x="2565831" y="2344670"/>
            <a:ext cx="2018889" cy="491749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Survey – Direct Agency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="" xmlns:a16="http://schemas.microsoft.com/office/drawing/2014/main" id="{AC16228E-D8EE-7A3F-A22B-6C726D564AD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396797" y="1028382"/>
            <a:ext cx="853499" cy="116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="" xmlns:a16="http://schemas.microsoft.com/office/drawing/2014/main" id="{F99F8022-9C5D-FC75-3982-B7AE431CFE8D}"/>
              </a:ext>
            </a:extLst>
          </p:cNvPr>
          <p:cNvSpPr/>
          <p:nvPr/>
        </p:nvSpPr>
        <p:spPr>
          <a:xfrm>
            <a:off x="3120795" y="5458022"/>
            <a:ext cx="970175" cy="6229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Agency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="" xmlns:a16="http://schemas.microsoft.com/office/drawing/2014/main" id="{AC16228E-D8EE-7A3F-A22B-6C726D564AD7}"/>
              </a:ext>
            </a:extLst>
          </p:cNvPr>
          <p:cNvCxnSpPr>
            <a:cxnSpLocks/>
          </p:cNvCxnSpPr>
          <p:nvPr/>
        </p:nvCxnSpPr>
        <p:spPr>
          <a:xfrm flipH="1" flipV="1">
            <a:off x="4140191" y="5755000"/>
            <a:ext cx="1663229" cy="206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="" xmlns:a16="http://schemas.microsoft.com/office/drawing/2014/main" id="{EFA20622-2955-8460-11C9-0F1B01BF9B41}"/>
              </a:ext>
            </a:extLst>
          </p:cNvPr>
          <p:cNvSpPr/>
          <p:nvPr/>
        </p:nvSpPr>
        <p:spPr>
          <a:xfrm>
            <a:off x="4227397" y="780595"/>
            <a:ext cx="2018889" cy="491749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State Level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820499" y="1258248"/>
            <a:ext cx="4848798" cy="4959407"/>
            <a:chOff x="2820499" y="1258248"/>
            <a:chExt cx="4848798" cy="4959407"/>
          </a:xfrm>
        </p:grpSpPr>
        <p:grpSp>
          <p:nvGrpSpPr>
            <p:cNvPr id="3" name="Group 2"/>
            <p:cNvGrpSpPr/>
            <p:nvPr/>
          </p:nvGrpSpPr>
          <p:grpSpPr>
            <a:xfrm>
              <a:off x="2820499" y="1258248"/>
              <a:ext cx="4660287" cy="4959407"/>
              <a:chOff x="3439547" y="1183345"/>
              <a:chExt cx="3442490" cy="4335322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="" xmlns:a16="http://schemas.microsoft.com/office/drawing/2014/main" id="{AC16228E-D8EE-7A3F-A22B-6C726D564A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47623" y="2561718"/>
                <a:ext cx="0" cy="487695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" name="Group 1"/>
              <p:cNvGrpSpPr/>
              <p:nvPr/>
            </p:nvGrpSpPr>
            <p:grpSpPr>
              <a:xfrm>
                <a:off x="3439547" y="1183345"/>
                <a:ext cx="3442490" cy="4335322"/>
                <a:chOff x="3439547" y="1183345"/>
                <a:chExt cx="3442490" cy="4335322"/>
              </a:xfrm>
            </p:grpSpPr>
            <p:sp>
              <p:nvSpPr>
                <p:cNvPr id="169" name="Flowchart: Decision 168">
                  <a:extLst>
                    <a:ext uri="{FF2B5EF4-FFF2-40B4-BE49-F238E27FC236}">
                      <a16:creationId xmlns="" xmlns:a16="http://schemas.microsoft.com/office/drawing/2014/main" id="{ED5BC01B-FF25-9DC4-7D06-1FB300BC33FB}"/>
                    </a:ext>
                  </a:extLst>
                </p:cNvPr>
                <p:cNvSpPr/>
                <p:nvPr/>
              </p:nvSpPr>
              <p:spPr>
                <a:xfrm>
                  <a:off x="5652610" y="4701592"/>
                  <a:ext cx="1229427" cy="817075"/>
                </a:xfrm>
                <a:prstGeom prst="flowChartDecision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100" kern="100" dirty="0" smtClean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Is Final Approval?</a:t>
                  </a:r>
                  <a:endParaRPr lang="en-IN" sz="14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71" name="Straight Arrow Connector 170">
                  <a:extLst>
                    <a:ext uri="{FF2B5EF4-FFF2-40B4-BE49-F238E27FC236}">
                      <a16:creationId xmlns="" xmlns:a16="http://schemas.microsoft.com/office/drawing/2014/main" id="{97786C97-E312-B07C-7314-B6502A4FE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11694" y="1183345"/>
                  <a:ext cx="0" cy="236975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Connector: Elbow 173">
                  <a:extLst>
                    <a:ext uri="{FF2B5EF4-FFF2-40B4-BE49-F238E27FC236}">
                      <a16:creationId xmlns="" xmlns:a16="http://schemas.microsoft.com/office/drawing/2014/main" id="{350344C1-942B-D3A9-AFF9-65FBFBE349A8}"/>
                    </a:ext>
                  </a:extLst>
                </p:cNvPr>
                <p:cNvCxnSpPr/>
                <p:nvPr/>
              </p:nvCxnSpPr>
              <p:spPr>
                <a:xfrm>
                  <a:off x="5726308" y="1631696"/>
                  <a:ext cx="581870" cy="470681"/>
                </a:xfrm>
                <a:prstGeom prst="bentConnector3">
                  <a:avLst>
                    <a:gd name="adj1" fmla="val 99451"/>
                  </a:avLst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Connector: Elbow 174">
                  <a:extLst>
                    <a:ext uri="{FF2B5EF4-FFF2-40B4-BE49-F238E27FC236}">
                      <a16:creationId xmlns="" xmlns:a16="http://schemas.microsoft.com/office/drawing/2014/main" id="{B7CFE4EB-D87A-52AB-4A42-79D4470857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30061" y="1600960"/>
                  <a:ext cx="540308" cy="517749"/>
                </a:xfrm>
                <a:prstGeom prst="bentConnector3">
                  <a:avLst>
                    <a:gd name="adj1" fmla="val 99451"/>
                  </a:avLst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="" xmlns:a16="http://schemas.microsoft.com/office/drawing/2014/main" id="{AC16228E-D8EE-7A3F-A22B-6C726D564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65271" y="4393469"/>
                  <a:ext cx="0" cy="324000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="" xmlns:a16="http://schemas.microsoft.com/office/drawing/2014/main" id="{AC16228E-D8EE-7A3F-A22B-6C726D564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77509" y="2577653"/>
                  <a:ext cx="0" cy="487695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="" xmlns:a16="http://schemas.microsoft.com/office/drawing/2014/main" id="{AC16228E-D8EE-7A3F-A22B-6C726D564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8037" y="3483441"/>
                  <a:ext cx="0" cy="487695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Arrow Connector 55">
                  <a:extLst>
                    <a:ext uri="{FF2B5EF4-FFF2-40B4-BE49-F238E27FC236}">
                      <a16:creationId xmlns="" xmlns:a16="http://schemas.microsoft.com/office/drawing/2014/main" id="{AC16228E-D8EE-7A3F-A22B-6C726D564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38022" y="2525671"/>
                  <a:ext cx="0" cy="487695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Arrow Connector 56">
                  <a:extLst>
                    <a:ext uri="{FF2B5EF4-FFF2-40B4-BE49-F238E27FC236}">
                      <a16:creationId xmlns="" xmlns:a16="http://schemas.microsoft.com/office/drawing/2014/main" id="{AC16228E-D8EE-7A3F-A22B-6C726D564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740030" y="3355941"/>
                  <a:ext cx="775908" cy="2063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" name="TextBox 4"/>
                <p:cNvSpPr txBox="1"/>
                <p:nvPr/>
              </p:nvSpPr>
              <p:spPr>
                <a:xfrm>
                  <a:off x="3439547" y="2737961"/>
                  <a:ext cx="73747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 smtClean="0"/>
                    <a:t>Approve</a:t>
                  </a:r>
                  <a:endParaRPr lang="en-IN" sz="1050" dirty="0"/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4519773" y="2747537"/>
                  <a:ext cx="626132" cy="221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50" dirty="0" smtClean="0"/>
                    <a:t>Reject</a:t>
                  </a:r>
                  <a:endParaRPr lang="en-IN" sz="1050" dirty="0"/>
                </a:p>
              </p:txBody>
            </p:sp>
          </p:grpSp>
        </p:grpSp>
        <p:sp>
          <p:nvSpPr>
            <p:cNvPr id="170" name="Rectangle 169">
              <a:extLst>
                <a:ext uri="{FF2B5EF4-FFF2-40B4-BE49-F238E27FC236}">
                  <a16:creationId xmlns="" xmlns:a16="http://schemas.microsoft.com/office/drawing/2014/main" id="{EFA20622-2955-8460-11C9-0F1B01BF9B41}"/>
                </a:ext>
              </a:extLst>
            </p:cNvPr>
            <p:cNvSpPr/>
            <p:nvPr/>
          </p:nvSpPr>
          <p:spPr>
            <a:xfrm>
              <a:off x="5650408" y="3369279"/>
              <a:ext cx="2018889" cy="491749"/>
            </a:xfrm>
            <a:prstGeom prst="rect">
              <a:avLst/>
            </a:pr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1200" kern="100" dirty="0" smtClean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State Executive Engineer</a:t>
              </a:r>
              <a:endParaRPr lang="en-IN" sz="1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7" name="Straight Arrow Connector 176">
              <a:extLst>
                <a:ext uri="{FF2B5EF4-FFF2-40B4-BE49-F238E27FC236}">
                  <a16:creationId xmlns="" xmlns:a16="http://schemas.microsoft.com/office/drawing/2014/main" id="{AC16228E-D8EE-7A3F-A22B-6C726D564AD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4597332" y="3579253"/>
              <a:ext cx="1032734" cy="2746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9" name="TextBox 178"/>
            <p:cNvSpPr txBox="1"/>
            <p:nvPr/>
          </p:nvSpPr>
          <p:spPr>
            <a:xfrm>
              <a:off x="5574906" y="2981502"/>
              <a:ext cx="7374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Approve</a:t>
              </a:r>
              <a:endParaRPr lang="en-IN" sz="1100" dirty="0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4797946" y="3710979"/>
              <a:ext cx="6261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Reject</a:t>
              </a:r>
              <a:endParaRPr lang="en-IN" sz="1050" dirty="0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6610981" y="2985760"/>
              <a:ext cx="6261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Reject</a:t>
              </a:r>
              <a:endParaRPr lang="en-IN" sz="1100" dirty="0"/>
            </a:p>
          </p:txBody>
        </p:sp>
        <p:cxnSp>
          <p:nvCxnSpPr>
            <p:cNvPr id="184" name="Straight Arrow Connector 183">
              <a:extLst>
                <a:ext uri="{FF2B5EF4-FFF2-40B4-BE49-F238E27FC236}">
                  <a16:creationId xmlns="" xmlns:a16="http://schemas.microsoft.com/office/drawing/2014/main" id="{AC16228E-D8EE-7A3F-A22B-6C726D564AD7}"/>
                </a:ext>
              </a:extLst>
            </p:cNvPr>
            <p:cNvCxnSpPr>
              <a:cxnSpLocks/>
            </p:cNvCxnSpPr>
            <p:nvPr/>
          </p:nvCxnSpPr>
          <p:spPr>
            <a:xfrm>
              <a:off x="6243465" y="2823088"/>
              <a:ext cx="0" cy="536465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/>
            <p:cNvSpPr txBox="1"/>
            <p:nvPr/>
          </p:nvSpPr>
          <p:spPr>
            <a:xfrm>
              <a:off x="5612477" y="4023818"/>
              <a:ext cx="7374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Approve</a:t>
              </a:r>
              <a:endParaRPr lang="en-IN" sz="1050" dirty="0"/>
            </a:p>
          </p:txBody>
        </p:sp>
        <p:cxnSp>
          <p:nvCxnSpPr>
            <p:cNvPr id="196" name="Straight Arrow Connector 195">
              <a:extLst>
                <a:ext uri="{FF2B5EF4-FFF2-40B4-BE49-F238E27FC236}">
                  <a16:creationId xmlns="" xmlns:a16="http://schemas.microsoft.com/office/drawing/2014/main" id="{AC16228E-D8EE-7A3F-A22B-6C726D564A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171795" y="3868427"/>
              <a:ext cx="0" cy="557900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7" name="TextBox 196"/>
            <p:cNvSpPr txBox="1"/>
            <p:nvPr/>
          </p:nvSpPr>
          <p:spPr>
            <a:xfrm>
              <a:off x="6660902" y="4028915"/>
              <a:ext cx="6261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 smtClean="0"/>
                <a:t>Reject</a:t>
              </a:r>
              <a:endParaRPr lang="en-IN" sz="1100" dirty="0"/>
            </a:p>
          </p:txBody>
        </p:sp>
      </p:grpSp>
      <p:sp>
        <p:nvSpPr>
          <p:cNvPr id="198" name="Oval 197">
            <a:extLst>
              <a:ext uri="{FF2B5EF4-FFF2-40B4-BE49-F238E27FC236}">
                <a16:creationId xmlns="" xmlns:a16="http://schemas.microsoft.com/office/drawing/2014/main" id="{F99F8022-9C5D-FC75-3982-B7AE431CFE8D}"/>
              </a:ext>
            </a:extLst>
          </p:cNvPr>
          <p:cNvSpPr/>
          <p:nvPr/>
        </p:nvSpPr>
        <p:spPr>
          <a:xfrm>
            <a:off x="2421845" y="707318"/>
            <a:ext cx="970175" cy="6229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200" kern="100" dirty="0" smtClean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Agency</a:t>
            </a:r>
            <a:endParaRPr lang="en-IN" sz="1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08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626A0F49-77DA-84B6-880F-34E9137A84F7}"/>
              </a:ext>
            </a:extLst>
          </p:cNvPr>
          <p:cNvSpPr/>
          <p:nvPr/>
        </p:nvSpPr>
        <p:spPr>
          <a:xfrm>
            <a:off x="2936340" y="40739"/>
            <a:ext cx="502104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905"/>
                <a:solidFill>
                  <a:srgbClr val="00B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Work P</a:t>
            </a:r>
            <a:r>
              <a:rPr lang="en-US" sz="3200" b="1" dirty="0" smtClean="0">
                <a:ln w="1905"/>
                <a:solidFill>
                  <a:srgbClr val="00B05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rogress Flowchart</a:t>
            </a:r>
            <a:endParaRPr lang="en-US" sz="3200" b="1" dirty="0">
              <a:ln w="1905"/>
              <a:solidFill>
                <a:srgbClr val="00B05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1882908" y="694964"/>
            <a:ext cx="6608024" cy="5926540"/>
            <a:chOff x="1906056" y="874247"/>
            <a:chExt cx="6608024" cy="5926540"/>
          </a:xfrm>
        </p:grpSpPr>
        <p:grpSp>
          <p:nvGrpSpPr>
            <p:cNvPr id="12" name="Group 11"/>
            <p:cNvGrpSpPr/>
            <p:nvPr/>
          </p:nvGrpSpPr>
          <p:grpSpPr>
            <a:xfrm>
              <a:off x="1906056" y="874247"/>
              <a:ext cx="6608024" cy="5926540"/>
              <a:chOff x="1315425" y="1022081"/>
              <a:chExt cx="5480272" cy="5275336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="" xmlns:a16="http://schemas.microsoft.com/office/drawing/2014/main" id="{0AF00B96-37B3-8241-6D1C-EAEE9FFA93E3}"/>
                  </a:ext>
                </a:extLst>
              </p:cNvPr>
              <p:cNvSpPr/>
              <p:nvPr/>
            </p:nvSpPr>
            <p:spPr>
              <a:xfrm>
                <a:off x="3715484" y="3872972"/>
                <a:ext cx="1104676" cy="492426"/>
              </a:xfrm>
              <a:prstGeom prst="rect">
                <a:avLst/>
              </a:prstGeom>
              <a:solidFill>
                <a:srgbClr val="0099C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kern="100" dirty="0"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Pathashree Engineer/JE</a:t>
                </a:r>
                <a:endParaRPr lang="en-IN" sz="1600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15425" y="1022081"/>
                <a:ext cx="5480272" cy="5275336"/>
                <a:chOff x="1315425" y="1022081"/>
                <a:chExt cx="5480272" cy="5275336"/>
              </a:xfrm>
            </p:grpSpPr>
            <p:cxnSp>
              <p:nvCxnSpPr>
                <p:cNvPr id="58" name="Straight Arrow Connector 57">
                  <a:extLst>
                    <a:ext uri="{FF2B5EF4-FFF2-40B4-BE49-F238E27FC236}">
                      <a16:creationId xmlns="" xmlns:a16="http://schemas.microsoft.com/office/drawing/2014/main" id="{EB16740D-868F-6199-40D7-ACDB275F5C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2383" y="4386186"/>
                  <a:ext cx="0" cy="396654"/>
                </a:xfrm>
                <a:prstGeom prst="straightConnector1">
                  <a:avLst/>
                </a:prstGeom>
                <a:ln w="28575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" name="Group 6"/>
                <p:cNvGrpSpPr/>
                <p:nvPr/>
              </p:nvGrpSpPr>
              <p:grpSpPr>
                <a:xfrm>
                  <a:off x="1315425" y="1022081"/>
                  <a:ext cx="5480272" cy="5275336"/>
                  <a:chOff x="1315425" y="1022081"/>
                  <a:chExt cx="5480272" cy="5275336"/>
                </a:xfrm>
              </p:grpSpPr>
              <p:sp>
                <p:nvSpPr>
                  <p:cNvPr id="50" name="Oval 49">
                    <a:extLst>
                      <a:ext uri="{FF2B5EF4-FFF2-40B4-BE49-F238E27FC236}">
                        <a16:creationId xmlns="" xmlns:a16="http://schemas.microsoft.com/office/drawing/2014/main" id="{4329711D-F61E-3CA4-4513-3AFDD6330C03}"/>
                      </a:ext>
                    </a:extLst>
                  </p:cNvPr>
                  <p:cNvSpPr/>
                  <p:nvPr/>
                </p:nvSpPr>
                <p:spPr>
                  <a:xfrm>
                    <a:off x="3569785" y="1022081"/>
                    <a:ext cx="1221270" cy="57617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kern="100" dirty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Agency</a:t>
                    </a:r>
                    <a:endParaRPr lang="en-IN" sz="1600" kern="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="" xmlns:a16="http://schemas.microsoft.com/office/drawing/2014/main" id="{7B21DB98-6A7C-005D-5512-B0CF41D9F376}"/>
                      </a:ext>
                    </a:extLst>
                  </p:cNvPr>
                  <p:cNvSpPr/>
                  <p:nvPr/>
                </p:nvSpPr>
                <p:spPr>
                  <a:xfrm>
                    <a:off x="3668138" y="2988852"/>
                    <a:ext cx="1014291" cy="492487"/>
                  </a:xfrm>
                  <a:prstGeom prst="rect">
                    <a:avLst/>
                  </a:prstGeom>
                  <a:solidFill>
                    <a:srgbClr val="0099CC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kern="1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Work </a:t>
                    </a:r>
                    <a:r>
                      <a:rPr lang="en-US" sz="1600" kern="100" dirty="0" smtClean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Order</a:t>
                    </a:r>
                    <a:endParaRPr lang="en-IN" sz="1600" kern="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="" xmlns:a16="http://schemas.microsoft.com/office/drawing/2014/main" id="{50775F4F-F8A8-BAD0-37D5-920895A70361}"/>
                      </a:ext>
                    </a:extLst>
                  </p:cNvPr>
                  <p:cNvSpPr/>
                  <p:nvPr/>
                </p:nvSpPr>
                <p:spPr>
                  <a:xfrm>
                    <a:off x="3698634" y="4789539"/>
                    <a:ext cx="1044963" cy="512710"/>
                  </a:xfrm>
                  <a:prstGeom prst="rect">
                    <a:avLst/>
                  </a:prstGeom>
                  <a:solidFill>
                    <a:srgbClr val="0099CC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kern="1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Work Progress</a:t>
                    </a:r>
                    <a:endParaRPr lang="en-IN" kern="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54" name="Straight Arrow Connector 53">
                    <a:extLst>
                      <a:ext uri="{FF2B5EF4-FFF2-40B4-BE49-F238E27FC236}">
                        <a16:creationId xmlns="" xmlns:a16="http://schemas.microsoft.com/office/drawing/2014/main" id="{A8118ABE-593C-9C3F-55F8-D4ACC1D220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7073" y="1621703"/>
                    <a:ext cx="0" cy="396654"/>
                  </a:xfrm>
                  <a:prstGeom prst="straightConnector1">
                    <a:avLst/>
                  </a:prstGeom>
                  <a:ln w="28575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Arrow Connector 54">
                    <a:extLst>
                      <a:ext uri="{FF2B5EF4-FFF2-40B4-BE49-F238E27FC236}">
                        <a16:creationId xmlns="" xmlns:a16="http://schemas.microsoft.com/office/drawing/2014/main" id="{217CD43F-F843-3178-F4C5-59A714C8F9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8294" y="2578798"/>
                    <a:ext cx="0" cy="396654"/>
                  </a:xfrm>
                  <a:prstGeom prst="straightConnector1">
                    <a:avLst/>
                  </a:prstGeom>
                  <a:ln w="28575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Arrow Connector 56">
                    <a:extLst>
                      <a:ext uri="{FF2B5EF4-FFF2-40B4-BE49-F238E27FC236}">
                        <a16:creationId xmlns="" xmlns:a16="http://schemas.microsoft.com/office/drawing/2014/main" id="{599C39F1-9715-F496-C10B-F6CE10190E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12123" y="3500080"/>
                    <a:ext cx="0" cy="348201"/>
                  </a:xfrm>
                  <a:prstGeom prst="straightConnector1">
                    <a:avLst/>
                  </a:prstGeom>
                  <a:ln w="28575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9" name="Oval 58">
                    <a:extLst>
                      <a:ext uri="{FF2B5EF4-FFF2-40B4-BE49-F238E27FC236}">
                        <a16:creationId xmlns="" xmlns:a16="http://schemas.microsoft.com/office/drawing/2014/main" id="{AC4B8DA8-EE01-9948-4184-1235A9CFD4A8}"/>
                      </a:ext>
                    </a:extLst>
                  </p:cNvPr>
                  <p:cNvSpPr/>
                  <p:nvPr/>
                </p:nvSpPr>
                <p:spPr>
                  <a:xfrm>
                    <a:off x="3599108" y="5721245"/>
                    <a:ext cx="1253956" cy="576172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600" kern="100" dirty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Complete</a:t>
                    </a:r>
                    <a:endParaRPr lang="en-IN" sz="1400" kern="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="" xmlns:a16="http://schemas.microsoft.com/office/drawing/2014/main" id="{3A36C6C6-F067-018B-80A2-05D1FB1946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3464" y="5316842"/>
                    <a:ext cx="0" cy="396654"/>
                  </a:xfrm>
                  <a:prstGeom prst="straightConnector1">
                    <a:avLst/>
                  </a:prstGeom>
                  <a:ln w="28575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4993766" y="1936824"/>
                    <a:ext cx="703785" cy="3561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smtClean="0"/>
                      <a:t>No</a:t>
                    </a:r>
                    <a:endParaRPr lang="en-US" sz="2000" dirty="0"/>
                  </a:p>
                </p:txBody>
              </p:sp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3674638" y="2539845"/>
                    <a:ext cx="526431" cy="3561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smtClean="0"/>
                      <a:t>Yes</a:t>
                    </a:r>
                    <a:endParaRPr lang="en-US" sz="2000" dirty="0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="" xmlns:a16="http://schemas.microsoft.com/office/drawing/2014/main" id="{7B21DB98-6A7C-005D-5512-B0CF41D9F376}"/>
                      </a:ext>
                    </a:extLst>
                  </p:cNvPr>
                  <p:cNvSpPr/>
                  <p:nvPr/>
                </p:nvSpPr>
                <p:spPr>
                  <a:xfrm>
                    <a:off x="5781406" y="2988852"/>
                    <a:ext cx="1014291" cy="492487"/>
                  </a:xfrm>
                  <a:prstGeom prst="rect">
                    <a:avLst/>
                  </a:prstGeom>
                  <a:solidFill>
                    <a:srgbClr val="0099CC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kern="100" dirty="0" smtClean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Contractor</a:t>
                    </a:r>
                    <a:endParaRPr lang="en-IN" kern="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9" name="Straight Arrow Connector 28">
                    <a:extLst>
                      <a:ext uri="{FF2B5EF4-FFF2-40B4-BE49-F238E27FC236}">
                        <a16:creationId xmlns="" xmlns:a16="http://schemas.microsoft.com/office/drawing/2014/main" id="{217CD43F-F843-3178-F4C5-59A714C8F9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236961" y="2713375"/>
                    <a:ext cx="0" cy="1080000"/>
                  </a:xfrm>
                  <a:prstGeom prst="straightConnector1">
                    <a:avLst/>
                  </a:prstGeom>
                  <a:ln w="28575"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" name="Group 8"/>
                  <p:cNvGrpSpPr/>
                  <p:nvPr/>
                </p:nvGrpSpPr>
                <p:grpSpPr>
                  <a:xfrm>
                    <a:off x="2438592" y="1310005"/>
                    <a:ext cx="1261579" cy="2844434"/>
                    <a:chOff x="2438592" y="1310005"/>
                    <a:chExt cx="1261579" cy="2844434"/>
                  </a:xfrm>
                </p:grpSpPr>
                <p:cxnSp>
                  <p:nvCxnSpPr>
                    <p:cNvPr id="4" name="Straight Arrow Connector 3"/>
                    <p:cNvCxnSpPr/>
                    <p:nvPr/>
                  </p:nvCxnSpPr>
                  <p:spPr>
                    <a:xfrm>
                      <a:off x="2440171" y="4154439"/>
                      <a:ext cx="1260000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0070C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" name="Straight Connector 5"/>
                    <p:cNvCxnSpPr/>
                    <p:nvPr/>
                  </p:nvCxnSpPr>
                  <p:spPr>
                    <a:xfrm>
                      <a:off x="2438592" y="1310005"/>
                      <a:ext cx="0" cy="2844000"/>
                    </a:xfrm>
                    <a:prstGeom prst="line">
                      <a:avLst/>
                    </a:prstGeom>
                    <a:ln w="28575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" name="Straight Connector 7"/>
                    <p:cNvCxnSpPr/>
                    <p:nvPr/>
                  </p:nvCxnSpPr>
                  <p:spPr>
                    <a:xfrm flipH="1">
                      <a:off x="2440171" y="1310167"/>
                      <a:ext cx="1116000" cy="0"/>
                    </a:xfrm>
                    <a:prstGeom prst="line">
                      <a:avLst/>
                    </a:prstGeom>
                    <a:ln w="28575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1315425" y="2050118"/>
                    <a:ext cx="1417615" cy="3561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Inspection</a:t>
                    </a:r>
                    <a:endParaRPr lang="en-IN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3" name="Group 2"/>
                  <p:cNvGrpSpPr/>
                  <p:nvPr/>
                </p:nvGrpSpPr>
                <p:grpSpPr>
                  <a:xfrm>
                    <a:off x="4742686" y="3501643"/>
                    <a:ext cx="1549996" cy="1590944"/>
                    <a:chOff x="4742686" y="3501643"/>
                    <a:chExt cx="1549996" cy="1590944"/>
                  </a:xfrm>
                </p:grpSpPr>
                <p:cxnSp>
                  <p:nvCxnSpPr>
                    <p:cNvPr id="30" name="Straight Arrow Connector 29"/>
                    <p:cNvCxnSpPr/>
                    <p:nvPr/>
                  </p:nvCxnSpPr>
                  <p:spPr>
                    <a:xfrm flipH="1">
                      <a:off x="4742686" y="5092587"/>
                      <a:ext cx="1548000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0070C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/>
                    <p:cNvCxnSpPr/>
                    <p:nvPr/>
                  </p:nvCxnSpPr>
                  <p:spPr>
                    <a:xfrm flipH="1">
                      <a:off x="6292682" y="3501643"/>
                      <a:ext cx="0" cy="1584000"/>
                    </a:xfrm>
                    <a:prstGeom prst="line">
                      <a:avLst/>
                    </a:prstGeom>
                    <a:ln w="28575">
                      <a:solidFill>
                        <a:srgbClr val="0070C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" name="TextBox 4"/>
                  <p:cNvSpPr txBox="1"/>
                  <p:nvPr/>
                </p:nvSpPr>
                <p:spPr>
                  <a:xfrm>
                    <a:off x="3019080" y="4359422"/>
                    <a:ext cx="1298116" cy="3561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Monitoring</a:t>
                    </a:r>
                    <a:endParaRPr lang="en-IN" sz="2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37" name="Rectangle 36">
              <a:extLst>
                <a:ext uri="{FF2B5EF4-FFF2-40B4-BE49-F238E27FC236}">
                  <a16:creationId xmlns="" xmlns:a16="http://schemas.microsoft.com/office/drawing/2014/main" id="{7B21DB98-6A7C-005D-5512-B0CF41D9F376}"/>
                </a:ext>
              </a:extLst>
            </p:cNvPr>
            <p:cNvSpPr/>
            <p:nvPr/>
          </p:nvSpPr>
          <p:spPr>
            <a:xfrm>
              <a:off x="4642856" y="2001520"/>
              <a:ext cx="1512000" cy="584816"/>
            </a:xfrm>
            <a:prstGeom prst="rect">
              <a:avLst/>
            </a:prstGeom>
            <a:solidFill>
              <a:srgbClr val="0099C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kern="100" dirty="0" smtClean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Tender</a:t>
              </a:r>
              <a:endPara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6096915" y="1197895"/>
              <a:ext cx="940229" cy="1096323"/>
              <a:chOff x="6096915" y="1197895"/>
              <a:chExt cx="940229" cy="1096323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>
                <a:off x="6173144" y="2293928"/>
                <a:ext cx="8640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rot="16200000">
                <a:off x="6496399" y="1754218"/>
                <a:ext cx="108000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>
                <a:endCxn id="50" idx="6"/>
              </p:cNvCxnSpPr>
              <p:nvPr/>
            </p:nvCxnSpPr>
            <p:spPr>
              <a:xfrm flipH="1" flipV="1">
                <a:off x="6096915" y="1197895"/>
                <a:ext cx="939484" cy="8109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5268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097B86DD-8152-DA55-9C31-D55BCD4FF8AB}"/>
              </a:ext>
            </a:extLst>
          </p:cNvPr>
          <p:cNvSpPr/>
          <p:nvPr/>
        </p:nvSpPr>
        <p:spPr>
          <a:xfrm>
            <a:off x="5323870" y="120206"/>
            <a:ext cx="173119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Login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935864" y="1022503"/>
            <a:ext cx="4778341" cy="2585323"/>
            <a:chOff x="7627275" y="1720840"/>
            <a:chExt cx="4187371" cy="2477615"/>
          </a:xfrm>
        </p:grpSpPr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267AB737-DFA2-250D-13D3-8F318B37F482}"/>
                </a:ext>
              </a:extLst>
            </p:cNvPr>
            <p:cNvSpPr txBox="1"/>
            <p:nvPr/>
          </p:nvSpPr>
          <p:spPr>
            <a:xfrm>
              <a:off x="7676703" y="1776142"/>
              <a:ext cx="40863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n w="10160">
                    <a:noFill/>
                    <a:prstDash val="solid"/>
                  </a:ln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Several types of login here  </a:t>
              </a:r>
              <a:endParaRPr lang="en-IN" sz="2400" b="1" dirty="0">
                <a:ln w="10160">
                  <a:noFill/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="" xmlns:a16="http://schemas.microsoft.com/office/drawing/2014/main" id="{C0C23252-4F5D-9CFC-E89B-C0C06C5CBE53}"/>
                </a:ext>
              </a:extLst>
            </p:cNvPr>
            <p:cNvSpPr txBox="1"/>
            <p:nvPr/>
          </p:nvSpPr>
          <p:spPr>
            <a:xfrm>
              <a:off x="7627275" y="1720840"/>
              <a:ext cx="4187371" cy="247761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  <a:p>
              <a:endParaRPr lang="en-US" dirty="0"/>
            </a:p>
            <a:p>
              <a:pPr marL="342900" indent="-342900">
                <a:buFont typeface="+mj-lt"/>
                <a:buAutoNum type="arabicParenR"/>
              </a:pPr>
              <a:endParaRPr lang="en-US" dirty="0" smtClean="0"/>
            </a:p>
            <a:p>
              <a:pPr marL="342900" indent="-342900">
                <a:buFont typeface="+mj-lt"/>
                <a:buAutoNum type="arabicParenR"/>
              </a:pPr>
              <a:r>
                <a:rPr lang="en-US" dirty="0" smtClean="0"/>
                <a:t>Admin/State level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US" dirty="0" smtClean="0"/>
                <a:t>Agency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US" dirty="0" smtClean="0"/>
                <a:t>District </a:t>
              </a:r>
              <a:r>
                <a:rPr lang="en-US" dirty="0"/>
                <a:t>l</a:t>
              </a:r>
              <a:r>
                <a:rPr lang="en-US" dirty="0" smtClean="0"/>
                <a:t>evel 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IN" dirty="0" smtClean="0"/>
                <a:t>All engineer – assistant, junior, executive, </a:t>
              </a:r>
              <a:r>
                <a:rPr lang="en-IN" dirty="0" err="1" smtClean="0"/>
                <a:t>pathashree</a:t>
              </a:r>
              <a:r>
                <a:rPr lang="en-IN" dirty="0" smtClean="0"/>
                <a:t> etc. </a:t>
              </a:r>
            </a:p>
            <a:p>
              <a:pPr marL="342900" indent="-342900">
                <a:buFont typeface="+mj-lt"/>
                <a:buAutoNum type="arabicParenR"/>
              </a:pPr>
              <a:r>
                <a:rPr lang="en-IN" dirty="0" smtClean="0"/>
                <a:t>Support login</a:t>
              </a:r>
              <a:endParaRPr lang="en-IN" dirty="0"/>
            </a:p>
          </p:txBody>
        </p:sp>
      </p:grpSp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F1841E01-9DB6-CE89-ED07-DA8FB4857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3914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="" xmlns:a16="http://schemas.microsoft.com/office/drawing/2014/main" id="{3F28879C-29F7-0D6D-8212-EAB3ACB17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39322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4906" y="1022503"/>
            <a:ext cx="4965894" cy="4875614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234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495F313-5F7B-65E7-5547-68DFF80BD0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8508" t="19276" r="2091" b="16083"/>
          <a:stretch/>
        </p:blipFill>
        <p:spPr>
          <a:xfrm>
            <a:off x="466655" y="1471767"/>
            <a:ext cx="11167914" cy="4525380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75C8644-16BA-2457-861A-3847BBC4D9FE}"/>
              </a:ext>
            </a:extLst>
          </p:cNvPr>
          <p:cNvSpPr/>
          <p:nvPr/>
        </p:nvSpPr>
        <p:spPr>
          <a:xfrm>
            <a:off x="4113530" y="196394"/>
            <a:ext cx="25490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Admin </a:t>
            </a:r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Menu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710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7FCCE09-FB01-3BD1-82D0-4ABC7DE05885}"/>
              </a:ext>
            </a:extLst>
          </p:cNvPr>
          <p:cNvSpPr/>
          <p:nvPr/>
        </p:nvSpPr>
        <p:spPr>
          <a:xfrm>
            <a:off x="4787496" y="163242"/>
            <a:ext cx="361990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Scheme Overview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16560" y="1046480"/>
            <a:ext cx="11358880" cy="4989148"/>
            <a:chOff x="870626" y="1245106"/>
            <a:chExt cx="10450748" cy="4591896"/>
          </a:xfrm>
        </p:grpSpPr>
        <p:pic>
          <p:nvPicPr>
            <p:cNvPr id="11" name="Picture 10">
              <a:extLst>
                <a:ext uri="{FF2B5EF4-FFF2-40B4-BE49-F238E27FC236}">
                  <a16:creationId xmlns="" xmlns:a16="http://schemas.microsoft.com/office/drawing/2014/main" id="{36C5932B-E888-8DEC-262E-AC53BFD09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626" y="1245106"/>
              <a:ext cx="10450748" cy="4591896"/>
            </a:xfrm>
            <a:prstGeom prst="rect">
              <a:avLst/>
            </a:prstGeom>
            <a:ln w="38100" cap="sq">
              <a:solidFill>
                <a:srgbClr val="00B0F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grpSp>
          <p:nvGrpSpPr>
            <p:cNvPr id="5" name="Group 4"/>
            <p:cNvGrpSpPr/>
            <p:nvPr/>
          </p:nvGrpSpPr>
          <p:grpSpPr>
            <a:xfrm>
              <a:off x="952500" y="1318260"/>
              <a:ext cx="2148840" cy="274320"/>
              <a:chOff x="952500" y="1318260"/>
              <a:chExt cx="2148840" cy="274320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952500" y="1318260"/>
                <a:ext cx="2148840" cy="2743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952500" y="1318260"/>
                <a:ext cx="150876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 smtClean="0"/>
                  <a:t>Scheme Summary</a:t>
                </a:r>
                <a:endParaRPr lang="en-IN" sz="1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812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9A00BFE-F560-4DE9-7736-B1C89CD588C6}"/>
              </a:ext>
            </a:extLst>
          </p:cNvPr>
          <p:cNvSpPr txBox="1"/>
          <p:nvPr/>
        </p:nvSpPr>
        <p:spPr>
          <a:xfrm>
            <a:off x="3973604" y="118183"/>
            <a:ext cx="3832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Road Master Status</a:t>
            </a:r>
            <a:endParaRPr lang="en-IN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90880" y="938531"/>
            <a:ext cx="10962640" cy="5475556"/>
            <a:chOff x="914180" y="1171063"/>
            <a:chExt cx="10391775" cy="4948383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14180" y="1171063"/>
              <a:ext cx="10391775" cy="4948383"/>
            </a:xfrm>
            <a:prstGeom prst="rect">
              <a:avLst/>
            </a:prstGeom>
            <a:ln w="38100" cap="sq">
              <a:solidFill>
                <a:srgbClr val="00B0F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grpSp>
          <p:nvGrpSpPr>
            <p:cNvPr id="10" name="Group 9">
              <a:extLst>
                <a:ext uri="{FF2B5EF4-FFF2-40B4-BE49-F238E27FC236}">
                  <a16:creationId xmlns="" xmlns:a16="http://schemas.microsoft.com/office/drawing/2014/main" id="{BA2CC42F-F833-25E8-2704-E8AD0089FA46}"/>
                </a:ext>
              </a:extLst>
            </p:cNvPr>
            <p:cNvGrpSpPr/>
            <p:nvPr/>
          </p:nvGrpSpPr>
          <p:grpSpPr>
            <a:xfrm>
              <a:off x="4230321" y="1302965"/>
              <a:ext cx="2486926" cy="1210329"/>
              <a:chOff x="9491638" y="857967"/>
              <a:chExt cx="2486926" cy="1059879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="" xmlns:a16="http://schemas.microsoft.com/office/drawing/2014/main" id="{1A0ADC5E-087F-0AD7-BB1C-C00338D9D8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76143" y="1417643"/>
                <a:ext cx="83751" cy="22067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EF35BE75-34EA-C838-7A24-ACFBC7FBFA38}"/>
                  </a:ext>
                </a:extLst>
              </p:cNvPr>
              <p:cNvSpPr txBox="1"/>
              <p:nvPr/>
            </p:nvSpPr>
            <p:spPr>
              <a:xfrm>
                <a:off x="9491638" y="1647250"/>
                <a:ext cx="969010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Not Approve</a:t>
                </a:r>
                <a:endParaRPr lang="en-IN" sz="1100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="" xmlns:a16="http://schemas.microsoft.com/office/drawing/2014/main" id="{D4C28C95-1C12-690C-8DF7-F5DA3FEC0C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188233" y="1001054"/>
                <a:ext cx="231775" cy="13428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="" xmlns:a16="http://schemas.microsoft.com/office/drawing/2014/main" id="{E2B227EC-9FD4-6218-0113-9C99165513DF}"/>
                  </a:ext>
                </a:extLst>
              </p:cNvPr>
              <p:cNvSpPr txBox="1"/>
              <p:nvPr/>
            </p:nvSpPr>
            <p:spPr>
              <a:xfrm>
                <a:off x="9491638" y="857967"/>
                <a:ext cx="696595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Approve</a:t>
                </a:r>
                <a:endParaRPr lang="en-IN" sz="1100" dirty="0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="" xmlns:a16="http://schemas.microsoft.com/office/drawing/2014/main" id="{A597A358-F107-697C-57A4-08728E5EF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85282" y="1410557"/>
                <a:ext cx="218621" cy="24939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9A833ED2-8E82-3328-D05B-D3DFA1C48CE0}"/>
                  </a:ext>
                </a:extLst>
              </p:cNvPr>
              <p:cNvSpPr txBox="1"/>
              <p:nvPr/>
            </p:nvSpPr>
            <p:spPr>
              <a:xfrm>
                <a:off x="10619397" y="1656236"/>
                <a:ext cx="1359167" cy="261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Not Implemented</a:t>
                </a:r>
                <a:endParaRPr lang="en-IN" sz="1100" dirty="0"/>
              </a:p>
            </p:txBody>
          </p:sp>
        </p:grpSp>
      </p:grpSp>
      <p:sp>
        <p:nvSpPr>
          <p:cNvPr id="14" name="Rectangle 13"/>
          <p:cNvSpPr/>
          <p:nvPr/>
        </p:nvSpPr>
        <p:spPr>
          <a:xfrm>
            <a:off x="1048512" y="2578608"/>
            <a:ext cx="1398104" cy="371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59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1774DF6-82CE-243A-C6F4-16DB7A172A26}"/>
              </a:ext>
            </a:extLst>
          </p:cNvPr>
          <p:cNvSpPr txBox="1"/>
          <p:nvPr/>
        </p:nvSpPr>
        <p:spPr>
          <a:xfrm>
            <a:off x="4353407" y="115114"/>
            <a:ext cx="3752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Road </a:t>
            </a:r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Master Entry</a:t>
            </a:r>
            <a:endParaRPr lang="en-IN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400" y="729688"/>
            <a:ext cx="9641839" cy="5610866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745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DC52A7B-1AAA-45B7-8C36-52CA1165359A}"/>
              </a:ext>
            </a:extLst>
          </p:cNvPr>
          <p:cNvSpPr/>
          <p:nvPr/>
        </p:nvSpPr>
        <p:spPr>
          <a:xfrm>
            <a:off x="3760964" y="102820"/>
            <a:ext cx="404555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User </a:t>
            </a:r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Management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851" t="1922" r="1039"/>
          <a:stretch/>
        </p:blipFill>
        <p:spPr>
          <a:xfrm>
            <a:off x="1087395" y="712309"/>
            <a:ext cx="9918356" cy="5943864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834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7222EBE3-D25E-6E76-D0C5-6BB0E3E57B2B}"/>
              </a:ext>
            </a:extLst>
          </p:cNvPr>
          <p:cNvSpPr/>
          <p:nvPr/>
        </p:nvSpPr>
        <p:spPr>
          <a:xfrm>
            <a:off x="3575342" y="127818"/>
            <a:ext cx="372409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Call Log - Support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372" y="1325612"/>
            <a:ext cx="11597009" cy="4526548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487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58D0DF2-298B-D033-14A2-A21CE1C644E8}"/>
              </a:ext>
            </a:extLst>
          </p:cNvPr>
          <p:cNvSpPr/>
          <p:nvPr/>
        </p:nvSpPr>
        <p:spPr>
          <a:xfrm>
            <a:off x="2863854" y="269287"/>
            <a:ext cx="663786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Report Overview </a:t>
            </a:r>
            <a:endParaRPr lang="en-US" sz="3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82633" y="1571674"/>
            <a:ext cx="11117930" cy="3685052"/>
            <a:chOff x="623823" y="1571674"/>
            <a:chExt cx="11117930" cy="3685052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23823" y="1571674"/>
              <a:ext cx="11117930" cy="3685052"/>
            </a:xfrm>
            <a:prstGeom prst="rect">
              <a:avLst/>
            </a:prstGeom>
            <a:ln w="38100" cap="sq">
              <a:solidFill>
                <a:srgbClr val="00B0F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3" name="Rectangle 2"/>
            <p:cNvSpPr/>
            <p:nvPr/>
          </p:nvSpPr>
          <p:spPr>
            <a:xfrm>
              <a:off x="809625" y="1729740"/>
              <a:ext cx="1394460" cy="285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28576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948729DF-95AD-B4FE-1761-72C435526F2E}"/>
              </a:ext>
            </a:extLst>
          </p:cNvPr>
          <p:cNvSpPr/>
          <p:nvPr/>
        </p:nvSpPr>
        <p:spPr>
          <a:xfrm>
            <a:off x="3165334" y="148728"/>
            <a:ext cx="525173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State S</a:t>
            </a:r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ummary </a:t>
            </a:r>
            <a:r>
              <a:rPr lang="en-US" sz="32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R</a:t>
            </a:r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eport</a:t>
            </a:r>
            <a:endParaRPr lang="en-US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7840" y="1228940"/>
            <a:ext cx="11301120" cy="4490878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93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315B8AC-CD48-2568-E368-9FF0FC19038A}"/>
              </a:ext>
            </a:extLst>
          </p:cNvPr>
          <p:cNvSpPr/>
          <p:nvPr/>
        </p:nvSpPr>
        <p:spPr>
          <a:xfrm>
            <a:off x="5019326" y="133734"/>
            <a:ext cx="226081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Inspection</a:t>
            </a:r>
            <a:endParaRPr lang="en-IN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1990670" y="977417"/>
            <a:ext cx="8286094" cy="5409132"/>
            <a:chOff x="2658794" y="633047"/>
            <a:chExt cx="8286094" cy="5774787"/>
          </a:xfrm>
        </p:grpSpPr>
        <p:grpSp>
          <p:nvGrpSpPr>
            <p:cNvPr id="33" name="Group 32"/>
            <p:cNvGrpSpPr/>
            <p:nvPr/>
          </p:nvGrpSpPr>
          <p:grpSpPr>
            <a:xfrm>
              <a:off x="2683114" y="664214"/>
              <a:ext cx="8261774" cy="5743620"/>
              <a:chOff x="3175484" y="783772"/>
              <a:chExt cx="8261774" cy="5743620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3175484" y="783772"/>
                <a:ext cx="8261774" cy="5743620"/>
                <a:chOff x="3175484" y="783772"/>
                <a:chExt cx="8261774" cy="5743620"/>
              </a:xfrm>
            </p:grpSpPr>
            <p:grpSp>
              <p:nvGrpSpPr>
                <p:cNvPr id="16" name="Group 15"/>
                <p:cNvGrpSpPr/>
                <p:nvPr/>
              </p:nvGrpSpPr>
              <p:grpSpPr>
                <a:xfrm>
                  <a:off x="3175484" y="783772"/>
                  <a:ext cx="8261774" cy="5743620"/>
                  <a:chOff x="1447800" y="-519333"/>
                  <a:chExt cx="9859312" cy="7856345"/>
                </a:xfrm>
              </p:grpSpPr>
              <p:pic>
                <p:nvPicPr>
                  <p:cNvPr id="15362" name="Picture 2"/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 l="21105" t="24821" r="3160" b="17900"/>
                  <a:stretch>
                    <a:fillRect/>
                  </a:stretch>
                </p:blipFill>
                <p:spPr bwMode="auto">
                  <a:xfrm>
                    <a:off x="1448582" y="-519333"/>
                    <a:ext cx="9855200" cy="4191000"/>
                  </a:xfrm>
                  <a:prstGeom prst="rect">
                    <a:avLst/>
                  </a:prstGeom>
                  <a:ln w="38100" cap="sq">
                    <a:noFill/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</p:spPr>
              </p:pic>
              <p:pic>
                <p:nvPicPr>
                  <p:cNvPr id="15363" name="Picture 3"/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 l="20910" t="28032" r="3160" b="21458"/>
                  <a:stretch>
                    <a:fillRect/>
                  </a:stretch>
                </p:blipFill>
                <p:spPr bwMode="auto">
                  <a:xfrm>
                    <a:off x="1447800" y="3666393"/>
                    <a:ext cx="9859312" cy="3670619"/>
                  </a:xfrm>
                  <a:prstGeom prst="rect">
                    <a:avLst/>
                  </a:prstGeom>
                  <a:ln w="38100" cap="sq">
                    <a:noFill/>
                    <a:prstDash val="solid"/>
                    <a:miter lim="800000"/>
                  </a:ln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</p:spPr>
              </p:pic>
            </p:grpSp>
            <p:pic>
              <p:nvPicPr>
                <p:cNvPr id="19" name="Picture 18" descr="WhatsApp Image 2024-03-12 at 15.15.38_6f16c86c.jp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590926" y="4410075"/>
                  <a:ext cx="1924049" cy="1240949"/>
                </a:xfrm>
                <a:prstGeom prst="rect">
                  <a:avLst/>
                </a:prstGeom>
              </p:spPr>
            </p:pic>
            <p:pic>
              <p:nvPicPr>
                <p:cNvPr id="20" name="Picture 19" descr="WhatsApp Image 2024-03-12 at 15.15.38_c6e68557.jp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 flipH="1">
                  <a:off x="6346775" y="4400550"/>
                  <a:ext cx="1911400" cy="1238250"/>
                </a:xfrm>
                <a:prstGeom prst="rect">
                  <a:avLst/>
                </a:prstGeom>
              </p:spPr>
            </p:pic>
            <p:pic>
              <p:nvPicPr>
                <p:cNvPr id="21" name="Picture 20" descr="WhatsApp Image 2024-03-12 at 15.15.38_cadbd7e7.jp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 flipH="1">
                  <a:off x="9085389" y="4404179"/>
                  <a:ext cx="1915986" cy="1234621"/>
                </a:xfrm>
                <a:prstGeom prst="rect">
                  <a:avLst/>
                </a:prstGeom>
              </p:spPr>
            </p:pic>
            <p:grpSp>
              <p:nvGrpSpPr>
                <p:cNvPr id="30" name="Group 29"/>
                <p:cNvGrpSpPr/>
                <p:nvPr/>
              </p:nvGrpSpPr>
              <p:grpSpPr>
                <a:xfrm>
                  <a:off x="3429000" y="2164080"/>
                  <a:ext cx="3261360" cy="975360"/>
                  <a:chOff x="3429000" y="2164080"/>
                  <a:chExt cx="3261360" cy="975360"/>
                </a:xfrm>
              </p:grpSpPr>
              <p:sp>
                <p:nvSpPr>
                  <p:cNvPr id="23" name="Rectangle 22"/>
                  <p:cNvSpPr/>
                  <p:nvPr/>
                </p:nvSpPr>
                <p:spPr>
                  <a:xfrm>
                    <a:off x="3474720" y="2171700"/>
                    <a:ext cx="777240" cy="1905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6179820" y="2164080"/>
                    <a:ext cx="510540" cy="198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25"/>
                  <p:cNvSpPr/>
                  <p:nvPr/>
                </p:nvSpPr>
                <p:spPr>
                  <a:xfrm>
                    <a:off x="3429000" y="2918460"/>
                    <a:ext cx="777240" cy="22098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22" name="TextBox 21"/>
              <p:cNvSpPr txBox="1"/>
              <p:nvPr/>
            </p:nvSpPr>
            <p:spPr>
              <a:xfrm>
                <a:off x="3406140" y="2125980"/>
                <a:ext cx="11201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30/04/2024</a:t>
                </a:r>
                <a:endParaRPr lang="en-US" sz="1400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164580" y="2118360"/>
                <a:ext cx="11201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50</a:t>
                </a:r>
                <a:endParaRPr lang="en-US" sz="1400" dirty="0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459480" y="2918460"/>
                <a:ext cx="1592580" cy="279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smtClean="0"/>
                  <a:t>Road work in progress</a:t>
                </a:r>
                <a:endParaRPr lang="en-US" sz="1100" dirty="0"/>
              </a:p>
            </p:txBody>
          </p:sp>
        </p:grpSp>
        <p:sp>
          <p:nvSpPr>
            <p:cNvPr id="17" name="Rectangle 16"/>
            <p:cNvSpPr/>
            <p:nvPr/>
          </p:nvSpPr>
          <p:spPr>
            <a:xfrm>
              <a:off x="2658794" y="633047"/>
              <a:ext cx="8285872" cy="5767753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761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8046703" y="898101"/>
            <a:ext cx="3052689" cy="5500469"/>
            <a:chOff x="6274191" y="942535"/>
            <a:chExt cx="3052689" cy="5570807"/>
          </a:xfrm>
        </p:grpSpPr>
        <p:grpSp>
          <p:nvGrpSpPr>
            <p:cNvPr id="21" name="Group 20"/>
            <p:cNvGrpSpPr/>
            <p:nvPr/>
          </p:nvGrpSpPr>
          <p:grpSpPr>
            <a:xfrm>
              <a:off x="6285244" y="946541"/>
              <a:ext cx="3041635" cy="5566801"/>
              <a:chOff x="5947620" y="938139"/>
              <a:chExt cx="3013501" cy="4693041"/>
            </a:xfrm>
          </p:grpSpPr>
          <p:pic>
            <p:nvPicPr>
              <p:cNvPr id="17" name="Picture 16" descr="Screenshot_2024-05-02-16-23-50-43_3a689c9a051dd71469d215d8b8237ed3.jpg"/>
              <p:cNvPicPr>
                <a:picLocks noChangeAspect="1"/>
              </p:cNvPicPr>
              <p:nvPr/>
            </p:nvPicPr>
            <p:blipFill>
              <a:blip r:embed="rId3" cstate="print"/>
              <a:srcRect t="4554" b="86221"/>
              <a:stretch>
                <a:fillRect/>
              </a:stretch>
            </p:blipFill>
            <p:spPr>
              <a:xfrm>
                <a:off x="5948060" y="938139"/>
                <a:ext cx="3013061" cy="547761"/>
              </a:xfrm>
              <a:prstGeom prst="rect">
                <a:avLst/>
              </a:prstGeom>
              <a:ln w="38100" cap="sq">
                <a:noFill/>
                <a:prstDash val="solid"/>
                <a:miter lim="800000"/>
              </a:ln>
              <a:effectLst/>
            </p:spPr>
          </p:pic>
          <p:pic>
            <p:nvPicPr>
              <p:cNvPr id="17410" name="Picture 2" descr="C:\Users\User\Desktop\ssm-III\app\Screenshot_2024-05-02-17-32-14-92_3a689c9a051dd71469d215d8b8237ed3.jp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t="14069" b="4505"/>
              <a:stretch>
                <a:fillRect/>
              </a:stretch>
            </p:blipFill>
            <p:spPr bwMode="auto">
              <a:xfrm>
                <a:off x="5947620" y="1478280"/>
                <a:ext cx="3012229" cy="4152900"/>
              </a:xfrm>
              <a:prstGeom prst="rect">
                <a:avLst/>
              </a:prstGeom>
              <a:noFill/>
            </p:spPr>
          </p:pic>
        </p:grpSp>
        <p:sp>
          <p:nvSpPr>
            <p:cNvPr id="22" name="Rectangle 21"/>
            <p:cNvSpPr/>
            <p:nvPr/>
          </p:nvSpPr>
          <p:spPr>
            <a:xfrm>
              <a:off x="6274191" y="942535"/>
              <a:ext cx="3052689" cy="5570807"/>
            </a:xfrm>
            <a:prstGeom prst="rect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1DC6B859-6686-D713-29F4-94D49014952E}"/>
              </a:ext>
            </a:extLst>
          </p:cNvPr>
          <p:cNvSpPr/>
          <p:nvPr/>
        </p:nvSpPr>
        <p:spPr>
          <a:xfrm>
            <a:off x="4368074" y="196197"/>
            <a:ext cx="397244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Mobile Applications</a:t>
            </a:r>
            <a:endParaRPr lang="en-IN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3179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The engineer can update the progress of road of assigned roads only</a:t>
            </a:r>
            <a:endParaRPr lang="en-US" sz="20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1357997" y="927206"/>
            <a:ext cx="3010077" cy="5443329"/>
            <a:chOff x="1357997" y="927206"/>
            <a:chExt cx="3010077" cy="5443329"/>
          </a:xfrm>
        </p:grpSpPr>
        <p:pic>
          <p:nvPicPr>
            <p:cNvPr id="16" name="Picture 15" descr="Screenshot_2024-05-02-16-23-32-18_3a689c9a051dd71469d215d8b8237ed3.jpg"/>
            <p:cNvPicPr>
              <a:picLocks noChangeAspect="1"/>
            </p:cNvPicPr>
            <p:nvPr/>
          </p:nvPicPr>
          <p:blipFill>
            <a:blip r:embed="rId5" cstate="print"/>
            <a:srcRect t="4417" b="2741"/>
            <a:stretch>
              <a:fillRect/>
            </a:stretch>
          </p:blipFill>
          <p:spPr>
            <a:xfrm>
              <a:off x="1357997" y="927206"/>
              <a:ext cx="3010077" cy="5443329"/>
            </a:xfrm>
            <a:prstGeom prst="rect">
              <a:avLst/>
            </a:prstGeom>
            <a:ln w="38100" cap="sq">
              <a:solidFill>
                <a:srgbClr val="00B0F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8" name="Rectangle 17"/>
            <p:cNvSpPr/>
            <p:nvPr/>
          </p:nvSpPr>
          <p:spPr>
            <a:xfrm>
              <a:off x="1939925" y="2955925"/>
              <a:ext cx="679450" cy="155575"/>
            </a:xfrm>
            <a:prstGeom prst="rect">
              <a:avLst/>
            </a:prstGeom>
            <a:solidFill>
              <a:srgbClr val="F1F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892300" y="2959100"/>
            <a:ext cx="101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9002978399</a:t>
            </a:r>
            <a:endParaRPr lang="en-US" sz="800" dirty="0"/>
          </a:p>
        </p:txBody>
      </p:sp>
      <p:sp>
        <p:nvSpPr>
          <p:cNvPr id="4" name="Rectangle 3"/>
          <p:cNvSpPr/>
          <p:nvPr/>
        </p:nvSpPr>
        <p:spPr>
          <a:xfrm>
            <a:off x="8418195" y="1042035"/>
            <a:ext cx="598170" cy="135255"/>
          </a:xfrm>
          <a:prstGeom prst="rect">
            <a:avLst/>
          </a:prstGeom>
          <a:solidFill>
            <a:srgbClr val="567DF6"/>
          </a:solidFill>
          <a:ln>
            <a:solidFill>
              <a:srgbClr val="567D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8340519" y="982617"/>
            <a:ext cx="577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endParaRPr lang="en-IN" sz="1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53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creenshot_2024-05-02-16-23-58-84_3a689c9a051dd71469d215d8b8237ed3.jpg"/>
          <p:cNvPicPr>
            <a:picLocks noChangeAspect="1"/>
          </p:cNvPicPr>
          <p:nvPr/>
        </p:nvPicPr>
        <p:blipFill>
          <a:blip r:embed="rId3" cstate="print"/>
          <a:srcRect t="5061" b="2631"/>
          <a:stretch>
            <a:fillRect/>
          </a:stretch>
        </p:blipFill>
        <p:spPr>
          <a:xfrm>
            <a:off x="2243497" y="878230"/>
            <a:ext cx="2657272" cy="5329588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 descr="Screenshot_2024-05-02-16-24-03-15_3a689c9a051dd71469d215d8b8237ed3.jpg"/>
          <p:cNvPicPr>
            <a:picLocks noChangeAspect="1"/>
          </p:cNvPicPr>
          <p:nvPr/>
        </p:nvPicPr>
        <p:blipFill>
          <a:blip r:embed="rId4" cstate="print"/>
          <a:srcRect t="5541" b="2562"/>
          <a:stretch>
            <a:fillRect/>
          </a:stretch>
        </p:blipFill>
        <p:spPr>
          <a:xfrm>
            <a:off x="5259345" y="874689"/>
            <a:ext cx="2695551" cy="5362338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 descr="Screenshot_2024-05-02-16-24-11-11_3a689c9a051dd71469d215d8b8237ed3.jpg"/>
          <p:cNvPicPr>
            <a:picLocks noChangeAspect="1"/>
          </p:cNvPicPr>
          <p:nvPr/>
        </p:nvPicPr>
        <p:blipFill>
          <a:blip r:embed="rId5" cstate="print"/>
          <a:srcRect t="5423" b="2255"/>
          <a:stretch>
            <a:fillRect/>
          </a:stretch>
        </p:blipFill>
        <p:spPr>
          <a:xfrm>
            <a:off x="8356237" y="890459"/>
            <a:ext cx="2657272" cy="5336352"/>
          </a:xfrm>
          <a:prstGeom prst="rect">
            <a:avLst/>
          </a:prstGeom>
          <a:ln w="38100" cap="sq">
            <a:solidFill>
              <a:srgbClr val="00B0F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DC6B859-6686-D713-29F4-94D49014952E}"/>
              </a:ext>
            </a:extLst>
          </p:cNvPr>
          <p:cNvSpPr/>
          <p:nvPr/>
        </p:nvSpPr>
        <p:spPr>
          <a:xfrm>
            <a:off x="4368074" y="196197"/>
            <a:ext cx="397244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32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rgbClr val="00B050"/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Mobile Applications</a:t>
            </a:r>
            <a:endParaRPr lang="en-IN" sz="32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rgbClr val="00B050"/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653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9AF86A1-3B39-4D53-9A98-B9475AF489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86767" y="2376738"/>
            <a:ext cx="3429000" cy="42005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2F896E3-48EA-4AAF-1146-D5FFD5B5A452}"/>
              </a:ext>
            </a:extLst>
          </p:cNvPr>
          <p:cNvSpPr/>
          <p:nvPr/>
        </p:nvSpPr>
        <p:spPr>
          <a:xfrm>
            <a:off x="2762306" y="1071348"/>
            <a:ext cx="6382325" cy="144655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InflateTop">
              <a:avLst/>
            </a:prstTxWarp>
            <a:spAutoFit/>
          </a:bodyPr>
          <a:lstStyle/>
          <a:p>
            <a:pPr algn="ctr"/>
            <a:r>
              <a:rPr lang="en-US" sz="8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9901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536</Words>
  <Application>Microsoft Office PowerPoint</Application>
  <PresentationFormat>Widescreen</PresentationFormat>
  <Paragraphs>127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Rural Road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PATHASHREE RASTASHREE</dc:title>
  <dc:creator>EMDEE-SW4</dc:creator>
  <cp:lastModifiedBy>EMDEE</cp:lastModifiedBy>
  <cp:revision>92</cp:revision>
  <dcterms:modified xsi:type="dcterms:W3CDTF">2024-08-26T12:18:29Z</dcterms:modified>
</cp:coreProperties>
</file>